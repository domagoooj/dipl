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  <p:sldId id="273" r:id="rId10"/>
    <p:sldId id="276" r:id="rId11"/>
    <p:sldId id="277" r:id="rId12"/>
    <p:sldId id="278" r:id="rId13"/>
    <p:sldId id="267" r:id="rId14"/>
    <p:sldId id="279" r:id="rId15"/>
    <p:sldId id="268" r:id="rId16"/>
    <p:sldId id="282" r:id="rId17"/>
    <p:sldId id="270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52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r-H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ROS (m/min)</c:v>
                </c:pt>
              </c:strCache>
            </c:strRef>
          </c:tx>
          <c:spPr>
            <a:solidFill>
              <a:srgbClr val="E4610F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22302A"/>
                    </a:solidFill>
                    <a:latin typeface="Calibri"/>
                  </a:defRPr>
                </a:pPr>
                <a:endParaRPr lang="sr-Latn-R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</c:v>
                </c:pt>
                <c:pt idx="1">
                  <c:v>SI</c:v>
                </c:pt>
                <c:pt idx="2">
                  <c:v>I</c:v>
                </c:pt>
                <c:pt idx="3">
                  <c:v>JI</c:v>
                </c:pt>
                <c:pt idx="4">
                  <c:v>J</c:v>
                </c:pt>
                <c:pt idx="5">
                  <c:v>JZ</c:v>
                </c:pt>
                <c:pt idx="6">
                  <c:v>Z</c:v>
                </c:pt>
                <c:pt idx="7">
                  <c:v>SZ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68.099999999999994</c:v>
                </c:pt>
                <c:pt idx="1">
                  <c:v>101.9</c:v>
                </c:pt>
                <c:pt idx="2">
                  <c:v>88.1</c:v>
                </c:pt>
                <c:pt idx="3">
                  <c:v>35.700000000000003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11.7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13E-4762-BDD7-8BED8064AD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E7D74"/>
            </a:solidFill>
          </a:ln>
        </c:spPr>
        <c:txPr>
          <a:bodyPr/>
          <a:lstStyle/>
          <a:p>
            <a:pPr>
              <a:defRPr sz="1200">
                <a:solidFill>
                  <a:srgbClr val="22302A"/>
                </a:solidFill>
                <a:latin typeface="Calibri"/>
              </a:defRPr>
            </a:pPr>
            <a:endParaRPr lang="sr-Latn-R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0"/>
        <c:axPos val="l"/>
        <c:majorGridlines>
          <c:spPr>
            <a:ln>
              <a:solidFill>
                <a:srgbClr val="D9E0D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7D74"/>
                </a:solidFill>
              </a:defRPr>
            </a:pPr>
            <a:endParaRPr lang="sr-Latn-R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sr-Latn-R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836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13203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4700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85802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96456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76159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753519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4297680"/>
            <a:ext cx="4206240" cy="4206240"/>
          </a:xfrm>
          <a:prstGeom prst="ellipse">
            <a:avLst/>
          </a:prstGeom>
          <a:solidFill>
            <a:srgbClr val="3F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98480" y="5394960"/>
            <a:ext cx="2468880" cy="2468880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902F"/>
                </a:solidFill>
                <a:latin typeface="Calibri"/>
              </a:rPr>
              <a:t>DIPLOMSKI RAD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41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Simulacija širenja šumskih požara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nad stvarnim geografskim terenom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 dirty="0" err="1">
                <a:solidFill>
                  <a:srgbClr val="8AAE6B"/>
                </a:solidFill>
                <a:latin typeface="Calibri"/>
              </a:rPr>
              <a:t>Primjena</a:t>
            </a:r>
            <a:r>
              <a:rPr sz="1650" b="0" i="1" dirty="0">
                <a:solidFill>
                  <a:srgbClr val="8AAE6B"/>
                </a:solidFill>
                <a:latin typeface="Calibri"/>
              </a:rPr>
              <a:t> </a:t>
            </a:r>
            <a:r>
              <a:rPr sz="1650" b="0" i="1" dirty="0" err="1">
                <a:solidFill>
                  <a:srgbClr val="8AAE6B"/>
                </a:solidFill>
                <a:latin typeface="Calibri"/>
              </a:rPr>
              <a:t>otvorenih</a:t>
            </a:r>
            <a:r>
              <a:rPr sz="1650" b="0" i="1" dirty="0">
                <a:solidFill>
                  <a:srgbClr val="8AAE6B"/>
                </a:solidFill>
                <a:latin typeface="Calibri"/>
              </a:rPr>
              <a:t> </a:t>
            </a:r>
            <a:r>
              <a:rPr sz="1650" b="0" i="1" dirty="0" err="1">
                <a:solidFill>
                  <a:srgbClr val="8AAE6B"/>
                </a:solidFill>
                <a:latin typeface="Calibri"/>
              </a:rPr>
              <a:t>prostornih</a:t>
            </a:r>
            <a:r>
              <a:rPr sz="1650" b="0" i="1" dirty="0">
                <a:solidFill>
                  <a:srgbClr val="8AAE6B"/>
                </a:solidFill>
                <a:latin typeface="Calibri"/>
              </a:rPr>
              <a:t> </a:t>
            </a:r>
            <a:r>
              <a:rPr sz="1650" b="0" i="1" dirty="0" err="1">
                <a:solidFill>
                  <a:srgbClr val="8AAE6B"/>
                </a:solidFill>
                <a:latin typeface="Calibri"/>
              </a:rPr>
              <a:t>podataka</a:t>
            </a:r>
            <a:r>
              <a:rPr sz="1650" b="0" i="1" dirty="0">
                <a:solidFill>
                  <a:srgbClr val="8AAE6B"/>
                </a:solidFill>
                <a:latin typeface="Calibri"/>
              </a:rPr>
              <a:t> </a:t>
            </a:r>
            <a:r>
              <a:rPr sz="1650" b="0" i="1" dirty="0" err="1">
                <a:solidFill>
                  <a:srgbClr val="8AAE6B"/>
                </a:solidFill>
                <a:latin typeface="Calibri"/>
              </a:rPr>
              <a:t>i</a:t>
            </a:r>
            <a:r>
              <a:rPr sz="1650" b="0" i="1" dirty="0">
                <a:solidFill>
                  <a:srgbClr val="8AAE6B"/>
                </a:solidFill>
                <a:latin typeface="Calibri"/>
              </a:rPr>
              <a:t> </a:t>
            </a:r>
            <a:r>
              <a:rPr sz="1650" b="0" i="1" dirty="0" err="1">
                <a:solidFill>
                  <a:srgbClr val="8AAE6B"/>
                </a:solidFill>
                <a:latin typeface="Calibri"/>
              </a:rPr>
              <a:t>daljinskih</a:t>
            </a:r>
            <a:r>
              <a:rPr sz="1650" b="0" i="1" dirty="0">
                <a:solidFill>
                  <a:srgbClr val="8AAE6B"/>
                </a:solidFill>
                <a:latin typeface="Calibri"/>
              </a:rPr>
              <a:t> </a:t>
            </a:r>
            <a:r>
              <a:rPr sz="1650" b="0" i="1" dirty="0" err="1">
                <a:solidFill>
                  <a:srgbClr val="8AAE6B"/>
                </a:solidFill>
                <a:latin typeface="Calibri"/>
              </a:rPr>
              <a:t>istraživanja</a:t>
            </a:r>
            <a:r>
              <a:rPr sz="1650" b="0" i="1" dirty="0">
                <a:solidFill>
                  <a:srgbClr val="8AAE6B"/>
                </a:solidFill>
                <a:latin typeface="Calibri"/>
              </a:rPr>
              <a:t> u </a:t>
            </a:r>
            <a:r>
              <a:rPr sz="1650" b="0" i="1" dirty="0" err="1">
                <a:solidFill>
                  <a:srgbClr val="8AAE6B"/>
                </a:solidFill>
                <a:latin typeface="Calibri"/>
              </a:rPr>
              <a:t>modeliranju</a:t>
            </a:r>
            <a:r>
              <a:rPr sz="1650" b="0" i="1" dirty="0">
                <a:solidFill>
                  <a:srgbClr val="8AAE6B"/>
                </a:solidFill>
                <a:latin typeface="Calibri"/>
              </a:rPr>
              <a:t> </a:t>
            </a:r>
            <a:r>
              <a:rPr sz="1650" b="0" i="1" dirty="0" err="1">
                <a:solidFill>
                  <a:srgbClr val="8AAE6B"/>
                </a:solidFill>
                <a:latin typeface="Calibri"/>
              </a:rPr>
              <a:t>propagatora</a:t>
            </a:r>
            <a:r>
              <a:rPr sz="1650" b="0" i="1" dirty="0">
                <a:solidFill>
                  <a:srgbClr val="8AAE6B"/>
                </a:solidFill>
                <a:latin typeface="Calibri"/>
              </a:rPr>
              <a:t> </a:t>
            </a:r>
            <a:r>
              <a:rPr sz="1650" b="0" i="1" dirty="0" err="1">
                <a:solidFill>
                  <a:srgbClr val="8AAE6B"/>
                </a:solidFill>
                <a:latin typeface="Calibri"/>
              </a:rPr>
              <a:t>požara</a:t>
            </a:r>
            <a:endParaRPr sz="1650" b="0" i="1" dirty="0">
              <a:solidFill>
                <a:srgbClr val="8AAE6B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1248" y="5029200"/>
            <a:ext cx="502920" cy="45720"/>
          </a:xfrm>
          <a:prstGeom prst="rect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Domagoj Tomić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C7D2C7"/>
                </a:solidFill>
                <a:latin typeface="Calibri"/>
              </a:rPr>
              <a:t>Mentor: prof. dr. sc. Sven Gotovac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AE6B"/>
                </a:solidFill>
                <a:latin typeface="Calibri"/>
              </a:rPr>
              <a:t>Fakultet elektrotehnike, strojarstva i brodogradnje · Split,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60832" y="548639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22302A"/>
                </a:solidFill>
              </a:rPr>
              <a:t>Uvod</a:t>
            </a:r>
            <a:endParaRPr sz="2800" b="1" i="0" dirty="0">
              <a:solidFill>
                <a:srgbClr val="22302A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1" y="2625090"/>
            <a:ext cx="6858000" cy="19448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sz="1700" b="1" dirty="0" err="1">
                <a:solidFill>
                  <a:srgbClr val="22302A"/>
                </a:solidFill>
                <a:latin typeface="Calibri"/>
              </a:rPr>
              <a:t>Šumski</a:t>
            </a:r>
            <a:r>
              <a:rPr sz="1700" b="1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22302A"/>
                </a:solidFill>
                <a:latin typeface="Calibri"/>
              </a:rPr>
              <a:t>požari</a:t>
            </a:r>
            <a:r>
              <a:rPr lang="hr-HR" sz="1700" b="1" dirty="0">
                <a:solidFill>
                  <a:srgbClr val="22302A"/>
                </a:solidFill>
                <a:latin typeface="Calibri"/>
              </a:rPr>
              <a:t> -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lang="it-IT" sz="1700" dirty="0" err="1">
                <a:solidFill>
                  <a:srgbClr val="22302A"/>
                </a:solidFill>
                <a:latin typeface="Calibri"/>
              </a:rPr>
              <a:t>sve</a:t>
            </a:r>
            <a:r>
              <a:rPr lang="it-IT" sz="1700" dirty="0">
                <a:solidFill>
                  <a:srgbClr val="22302A"/>
                </a:solidFill>
                <a:latin typeface="Calibri"/>
              </a:rPr>
              <a:t> su </a:t>
            </a:r>
            <a:r>
              <a:rPr lang="it-IT" sz="1700" dirty="0" err="1">
                <a:solidFill>
                  <a:srgbClr val="22302A"/>
                </a:solidFill>
                <a:latin typeface="Calibri"/>
              </a:rPr>
              <a:t>češći</a:t>
            </a:r>
            <a:r>
              <a:rPr lang="it-IT" sz="1700" dirty="0">
                <a:solidFill>
                  <a:srgbClr val="22302A"/>
                </a:solidFill>
                <a:latin typeface="Calibri"/>
              </a:rPr>
              <a:t> i </a:t>
            </a:r>
            <a:r>
              <a:rPr lang="it-IT" sz="1700" dirty="0" err="1">
                <a:solidFill>
                  <a:srgbClr val="22302A"/>
                </a:solidFill>
                <a:latin typeface="Calibri"/>
              </a:rPr>
              <a:t>razorniji</a:t>
            </a:r>
            <a:r>
              <a:rPr lang="hr-HR" sz="1700" dirty="0">
                <a:solidFill>
                  <a:srgbClr val="22302A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nastaju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ranije</a:t>
            </a:r>
            <a:r>
              <a:rPr lang="hr-HR" sz="1700" dirty="0">
                <a:solidFill>
                  <a:srgbClr val="22302A"/>
                </a:solidFill>
                <a:latin typeface="Calibri"/>
              </a:rPr>
              <a:t>, traju dulje</a:t>
            </a:r>
            <a:endParaRPr sz="1700" dirty="0">
              <a:solidFill>
                <a:srgbClr val="22302A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sz="1700" b="1" dirty="0" err="1">
                <a:solidFill>
                  <a:srgbClr val="22302A"/>
                </a:solidFill>
                <a:latin typeface="Calibri"/>
              </a:rPr>
              <a:t>Ovaj</a:t>
            </a:r>
            <a:r>
              <a:rPr sz="1700" b="1" dirty="0">
                <a:solidFill>
                  <a:srgbClr val="22302A"/>
                </a:solidFill>
                <a:latin typeface="Calibri"/>
              </a:rPr>
              <a:t> rad</a:t>
            </a:r>
            <a:r>
              <a:rPr lang="hr-HR" sz="1700" b="1" dirty="0">
                <a:solidFill>
                  <a:srgbClr val="22302A"/>
                </a:solidFill>
                <a:latin typeface="Calibri"/>
              </a:rPr>
              <a:t> - </a:t>
            </a:r>
            <a:r>
              <a:rPr sz="1700" dirty="0">
                <a:solidFill>
                  <a:srgbClr val="22302A"/>
                </a:solidFill>
                <a:latin typeface="Calibri"/>
              </a:rPr>
              <a:t>desktop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aplikacija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koja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simulira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širenje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požara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nad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stvarnim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geografskim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terenom</a:t>
            </a:r>
            <a:endParaRPr sz="1700" dirty="0">
              <a:solidFill>
                <a:srgbClr val="22302A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lang="hr-HR" sz="1700" dirty="0">
                <a:solidFill>
                  <a:srgbClr val="E4610F"/>
                </a:solidFill>
                <a:latin typeface="Calibri"/>
              </a:rPr>
              <a:t>•   </a:t>
            </a:r>
            <a:r>
              <a:rPr lang="hr-HR" sz="1700" b="1" dirty="0">
                <a:solidFill>
                  <a:srgbClr val="22302A"/>
                </a:solidFill>
                <a:latin typeface="Calibri"/>
              </a:rPr>
              <a:t>Osnova - </a:t>
            </a:r>
            <a:r>
              <a:rPr lang="hr-HR" sz="1700" dirty="0">
                <a:solidFill>
                  <a:srgbClr val="22302A"/>
                </a:solidFill>
                <a:latin typeface="Calibri"/>
              </a:rPr>
              <a:t>Fizikalni model širenja požara (</a:t>
            </a:r>
            <a:r>
              <a:rPr lang="hr-HR" sz="1700" dirty="0" err="1">
                <a:solidFill>
                  <a:srgbClr val="22302A"/>
                </a:solidFill>
                <a:latin typeface="Calibri"/>
              </a:rPr>
              <a:t>Rothermel</a:t>
            </a:r>
            <a:r>
              <a:rPr lang="hr-HR" sz="1700" dirty="0">
                <a:solidFill>
                  <a:srgbClr val="22302A"/>
                </a:solidFill>
                <a:latin typeface="Calibri"/>
              </a:rPr>
              <a:t>, 1972), javno dostupni podatci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lang="hr-HR" sz="170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lang="hr-HR" sz="1700" b="1" dirty="0">
                <a:solidFill>
                  <a:srgbClr val="22302A"/>
                </a:solidFill>
                <a:latin typeface="Calibri"/>
              </a:rPr>
              <a:t>Cilj - </a:t>
            </a:r>
            <a:r>
              <a:rPr lang="hr-HR" sz="1700" dirty="0">
                <a:solidFill>
                  <a:srgbClr val="22302A"/>
                </a:solidFill>
                <a:latin typeface="Calibri"/>
              </a:rPr>
              <a:t>funkcionalan sustav za lako korištenje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600200"/>
            <a:ext cx="3977639" cy="3794760"/>
          </a:xfrm>
          <a:prstGeom prst="roundRect">
            <a:avLst/>
          </a:prstGeom>
          <a:solidFill>
            <a:srgbClr val="1C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 dirty="0" err="1">
                <a:solidFill>
                  <a:srgbClr val="8AAE6B"/>
                </a:solidFill>
                <a:latin typeface="Calibri"/>
              </a:rPr>
              <a:t>Ukratko</a:t>
            </a:r>
            <a:endParaRPr sz="1600" b="0" i="0" dirty="0">
              <a:solidFill>
                <a:srgbClr val="8AAE6B"/>
              </a:solidFill>
              <a:latin typeface="Calibr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FFFFFF"/>
                </a:solidFill>
                <a:latin typeface="Cambria"/>
              </a:rPr>
              <a:t>Znanstveno</a:t>
            </a:r>
            <a:r>
              <a:rPr sz="22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Cambria"/>
              </a:rPr>
              <a:t>utemeljen</a:t>
            </a:r>
            <a:r>
              <a:rPr sz="2200" b="1" i="0" dirty="0">
                <a:solidFill>
                  <a:srgbClr val="FFFFFF"/>
                </a:solidFill>
                <a:latin typeface="Cambria"/>
              </a:rPr>
              <a:t> model </a:t>
            </a:r>
            <a:r>
              <a:rPr sz="2200" b="1" i="0" dirty="0" err="1">
                <a:solidFill>
                  <a:srgbClr val="FFFFFF"/>
                </a:solidFill>
                <a:latin typeface="Cambria"/>
              </a:rPr>
              <a:t>požara</a:t>
            </a:r>
            <a:r>
              <a:rPr sz="22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Cambria"/>
              </a:rPr>
              <a:t>na</a:t>
            </a:r>
            <a:r>
              <a:rPr sz="22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Cambria"/>
              </a:rPr>
              <a:t>stvarnim</a:t>
            </a:r>
            <a:r>
              <a:rPr sz="22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Cambria"/>
              </a:rPr>
              <a:t>podacima</a:t>
            </a:r>
            <a:r>
              <a:rPr sz="2200" b="1" i="0" dirty="0">
                <a:solidFill>
                  <a:srgbClr val="FFFFFF"/>
                </a:solidFill>
                <a:latin typeface="Cambria"/>
              </a:rPr>
              <a:t> — </a:t>
            </a:r>
            <a:r>
              <a:rPr sz="2200" b="1" i="0" dirty="0" err="1">
                <a:solidFill>
                  <a:srgbClr val="FFFFFF"/>
                </a:solidFill>
                <a:latin typeface="Cambria"/>
              </a:rPr>
              <a:t>dostupan</a:t>
            </a:r>
            <a:r>
              <a:rPr sz="2200" b="1" i="0" dirty="0">
                <a:solidFill>
                  <a:srgbClr val="FFFFFF"/>
                </a:solidFill>
                <a:latin typeface="Cambria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Cambria"/>
              </a:rPr>
              <a:t>svima</a:t>
            </a:r>
            <a:r>
              <a:rPr sz="2200" b="1" i="0" dirty="0">
                <a:solidFill>
                  <a:srgbClr val="FFFFFF"/>
                </a:solidFill>
                <a:latin typeface="Cambria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60832" y="548639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22302A"/>
                </a:solidFill>
              </a:rPr>
              <a:t>Motivacija</a:t>
            </a:r>
            <a:r>
              <a:rPr sz="2800" b="1" i="0" dirty="0">
                <a:solidFill>
                  <a:srgbClr val="22302A"/>
                </a:solidFill>
              </a:rPr>
              <a:t> </a:t>
            </a:r>
            <a:r>
              <a:rPr sz="2800" b="1" i="0" dirty="0" err="1">
                <a:solidFill>
                  <a:srgbClr val="22302A"/>
                </a:solidFill>
              </a:rPr>
              <a:t>i</a:t>
            </a:r>
            <a:r>
              <a:rPr sz="2800" b="1" i="0" dirty="0">
                <a:solidFill>
                  <a:srgbClr val="22302A"/>
                </a:solidFill>
              </a:rPr>
              <a:t> </a:t>
            </a:r>
            <a:r>
              <a:rPr sz="2800" b="1" i="0" dirty="0" err="1">
                <a:solidFill>
                  <a:srgbClr val="22302A"/>
                </a:solidFill>
              </a:rPr>
              <a:t>cilj</a:t>
            </a:r>
            <a:endParaRPr sz="2800" b="1" i="0" dirty="0">
              <a:solidFill>
                <a:srgbClr val="22302A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86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92040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E4610F"/>
                </a:solidFill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4892040" cy="2494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Tradicionalni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pristup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je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reaktivan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lang="hr-HR" sz="1700" dirty="0">
                <a:solidFill>
                  <a:srgbClr val="22302A"/>
                </a:solidFill>
                <a:latin typeface="Calibri"/>
              </a:rPr>
              <a:t>-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upravlja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posljedicama</a:t>
            </a:r>
            <a:r>
              <a:rPr sz="1700" dirty="0">
                <a:solidFill>
                  <a:srgbClr val="22302A"/>
                </a:solidFill>
                <a:latin typeface="Calibri"/>
              </a:rPr>
              <a:t>, ne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rizikom</a:t>
            </a:r>
            <a:r>
              <a:rPr sz="1700" dirty="0">
                <a:solidFill>
                  <a:srgbClr val="22302A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Profesionalni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alati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(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FlamMap</a:t>
            </a:r>
            <a:r>
              <a:rPr sz="1700" dirty="0">
                <a:solidFill>
                  <a:srgbClr val="22302A"/>
                </a:solidFill>
                <a:latin typeface="Calibri"/>
              </a:rPr>
              <a:t>, FARSITE)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su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skupi</a:t>
            </a:r>
            <a:r>
              <a:rPr sz="1700" dirty="0">
                <a:solidFill>
                  <a:srgbClr val="22302A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zatvoreni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i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složeni</a:t>
            </a:r>
            <a:r>
              <a:rPr sz="1700" dirty="0">
                <a:solidFill>
                  <a:srgbClr val="22302A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Traže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stručnjaka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i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iscrpnu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pripremu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ulaznih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podataka</a:t>
            </a:r>
            <a:r>
              <a:rPr sz="1700" dirty="0">
                <a:solidFill>
                  <a:srgbClr val="22302A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Nedostaje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jednostavan</a:t>
            </a:r>
            <a:r>
              <a:rPr sz="1700" dirty="0">
                <a:solidFill>
                  <a:srgbClr val="22302A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dostupan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alat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na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lokalnoj</a:t>
            </a:r>
            <a:r>
              <a:rPr sz="1700" dirty="0">
                <a:solidFill>
                  <a:srgbClr val="22302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22302A"/>
                </a:solidFill>
                <a:latin typeface="Calibri"/>
              </a:rPr>
              <a:t>razini</a:t>
            </a:r>
            <a:r>
              <a:rPr sz="1700" dirty="0">
                <a:solidFill>
                  <a:srgbClr val="22302A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468112" cy="4114800"/>
          </a:xfrm>
          <a:prstGeom prst="roundRect">
            <a:avLst/>
          </a:prstGeom>
          <a:solidFill>
            <a:srgbClr val="1C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35115" y="1828800"/>
            <a:ext cx="4892040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F3902F"/>
                </a:solidFill>
              </a:rPr>
              <a:t>Cilj</a:t>
            </a:r>
            <a:endParaRPr sz="1800" b="1" i="0" dirty="0">
              <a:solidFill>
                <a:srgbClr val="F3902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2423160"/>
            <a:ext cx="4892040" cy="14632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700" b="1" dirty="0">
                <a:solidFill>
                  <a:srgbClr val="F3902F"/>
                </a:solidFill>
                <a:latin typeface="Calibri"/>
              </a:rPr>
              <a:t>•  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Simulacija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nad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stvarnim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geografskim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terenom</a:t>
            </a:r>
            <a:r>
              <a:rPr sz="1700" dirty="0">
                <a:solidFill>
                  <a:srgbClr val="E4EAE2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700" b="1" dirty="0">
                <a:solidFill>
                  <a:srgbClr val="F3902F"/>
                </a:solidFill>
                <a:latin typeface="Calibri"/>
              </a:rPr>
              <a:t>•  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Isključivo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otvoreni</a:t>
            </a:r>
            <a:r>
              <a:rPr sz="1700" dirty="0">
                <a:solidFill>
                  <a:srgbClr val="E4EAE2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besplatni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izvori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podataka</a:t>
            </a:r>
            <a:r>
              <a:rPr sz="1700" dirty="0">
                <a:solidFill>
                  <a:srgbClr val="E4EAE2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700" b="1" dirty="0">
                <a:solidFill>
                  <a:srgbClr val="F3902F"/>
                </a:solidFill>
                <a:latin typeface="Calibri"/>
              </a:rPr>
              <a:t>•  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Intuitivno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korištenje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</a:t>
            </a:r>
            <a:r>
              <a:rPr lang="hr-HR" sz="1700" dirty="0">
                <a:solidFill>
                  <a:srgbClr val="E4EAE2"/>
                </a:solidFill>
                <a:latin typeface="Calibri"/>
              </a:rPr>
              <a:t>-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bez GIS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predznanja</a:t>
            </a:r>
            <a:r>
              <a:rPr sz="1700" dirty="0">
                <a:solidFill>
                  <a:srgbClr val="E4EAE2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700" b="1" dirty="0">
                <a:solidFill>
                  <a:srgbClr val="F3902F"/>
                </a:solidFill>
                <a:latin typeface="Calibri"/>
              </a:rPr>
              <a:t>•  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Radi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za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bilo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koje</a:t>
            </a:r>
            <a:r>
              <a:rPr sz="1700" dirty="0">
                <a:solidFill>
                  <a:srgbClr val="E4EAE2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E4EAE2"/>
                </a:solidFill>
                <a:latin typeface="Calibri"/>
              </a:rPr>
              <a:t>područje</a:t>
            </a:r>
            <a:r>
              <a:rPr sz="1700" dirty="0">
                <a:solidFill>
                  <a:srgbClr val="E4EAE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48639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22302A"/>
                </a:solidFill>
              </a:rPr>
              <a:t>Teorija</a:t>
            </a:r>
            <a:r>
              <a:rPr sz="2800" b="1" i="0" dirty="0">
                <a:solidFill>
                  <a:srgbClr val="22302A"/>
                </a:solidFill>
              </a:rPr>
              <a:t> </a:t>
            </a:r>
            <a:r>
              <a:rPr sz="2800" b="1" i="0" dirty="0" err="1">
                <a:solidFill>
                  <a:srgbClr val="22302A"/>
                </a:solidFill>
              </a:rPr>
              <a:t>širenja</a:t>
            </a:r>
            <a:r>
              <a:rPr sz="2800" b="1" i="0" dirty="0">
                <a:solidFill>
                  <a:srgbClr val="22302A"/>
                </a:solidFill>
              </a:rPr>
              <a:t> </a:t>
            </a:r>
            <a:r>
              <a:rPr lang="hr-HR" sz="2800" b="1" i="0" dirty="0">
                <a:solidFill>
                  <a:srgbClr val="22302A"/>
                </a:solidFill>
              </a:rPr>
              <a:t>-</a:t>
            </a:r>
            <a:r>
              <a:rPr sz="2800" b="1" i="0" dirty="0">
                <a:solidFill>
                  <a:srgbClr val="22302A"/>
                </a:solidFill>
              </a:rPr>
              <a:t> </a:t>
            </a:r>
            <a:r>
              <a:rPr sz="2800" b="1" i="0" dirty="0" err="1">
                <a:solidFill>
                  <a:srgbClr val="22302A"/>
                </a:solidFill>
              </a:rPr>
              <a:t>čimbenici</a:t>
            </a:r>
            <a:endParaRPr sz="2800" b="1" i="0" dirty="0">
              <a:solidFill>
                <a:srgbClr val="22302A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dirty="0" err="1">
                <a:solidFill>
                  <a:srgbClr val="22302A"/>
                </a:solidFill>
                <a:latin typeface="Calibri"/>
              </a:rPr>
              <a:t>Brzina</a:t>
            </a:r>
            <a:r>
              <a:rPr sz="1550" b="0" i="0" dirty="0">
                <a:solidFill>
                  <a:srgbClr val="22302A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22302A"/>
                </a:solidFill>
                <a:latin typeface="Calibri"/>
              </a:rPr>
              <a:t>širenja</a:t>
            </a:r>
            <a:r>
              <a:rPr sz="1550" b="0" i="0" dirty="0">
                <a:solidFill>
                  <a:srgbClr val="22302A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22302A"/>
                </a:solidFill>
                <a:latin typeface="Calibri"/>
              </a:rPr>
              <a:t>požara</a:t>
            </a:r>
            <a:r>
              <a:rPr sz="1550" b="0" i="0" dirty="0">
                <a:solidFill>
                  <a:srgbClr val="22302A"/>
                </a:solidFill>
                <a:latin typeface="Calibri"/>
              </a:rPr>
              <a:t> u </a:t>
            </a:r>
            <a:r>
              <a:rPr sz="1550" b="0" i="0" dirty="0" err="1">
                <a:solidFill>
                  <a:srgbClr val="22302A"/>
                </a:solidFill>
                <a:latin typeface="Calibri"/>
              </a:rPr>
              <a:t>svakoj</a:t>
            </a:r>
            <a:r>
              <a:rPr sz="1550" b="0" i="0" dirty="0">
                <a:solidFill>
                  <a:srgbClr val="22302A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22302A"/>
                </a:solidFill>
                <a:latin typeface="Calibri"/>
              </a:rPr>
              <a:t>ćeliji</a:t>
            </a:r>
            <a:r>
              <a:rPr sz="1550" b="0" i="0" dirty="0">
                <a:solidFill>
                  <a:srgbClr val="22302A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22302A"/>
                </a:solidFill>
                <a:latin typeface="Calibri"/>
              </a:rPr>
              <a:t>ovisi</a:t>
            </a:r>
            <a:r>
              <a:rPr sz="1550" b="0" i="0" dirty="0">
                <a:solidFill>
                  <a:srgbClr val="22302A"/>
                </a:solidFill>
                <a:latin typeface="Calibri"/>
              </a:rPr>
              <a:t> o pet </a:t>
            </a:r>
            <a:r>
              <a:rPr sz="1550" b="0" i="0" dirty="0" err="1">
                <a:solidFill>
                  <a:srgbClr val="22302A"/>
                </a:solidFill>
                <a:latin typeface="Calibri"/>
              </a:rPr>
              <a:t>čimbenika</a:t>
            </a:r>
            <a:r>
              <a:rPr sz="1550" b="0" i="0" dirty="0">
                <a:solidFill>
                  <a:srgbClr val="22302A"/>
                </a:solidFill>
                <a:latin typeface="Calibri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01952"/>
            <a:ext cx="110916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075688"/>
            <a:ext cx="457200" cy="457200"/>
          </a:xfrm>
          <a:prstGeom prst="ellipse">
            <a:avLst/>
          </a:prstGeom>
          <a:solidFill>
            <a:srgbClr val="3F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93392"/>
            <a:ext cx="9921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dirty="0" err="1">
                <a:solidFill>
                  <a:srgbClr val="22302A"/>
                </a:solidFill>
                <a:latin typeface="Calibri"/>
              </a:rPr>
              <a:t>Gorivo</a:t>
            </a:r>
            <a:r>
              <a:rPr sz="1150" i="1" dirty="0">
                <a:solidFill>
                  <a:srgbClr val="3F6B4E"/>
                </a:solidFill>
                <a:latin typeface="Calibri"/>
              </a:rPr>
              <a:t>  (tip </a:t>
            </a:r>
            <a:r>
              <a:rPr sz="1150" i="1" dirty="0" err="1">
                <a:solidFill>
                  <a:srgbClr val="3F6B4E"/>
                </a:solidFill>
                <a:latin typeface="Calibri"/>
              </a:rPr>
              <a:t>i</a:t>
            </a:r>
            <a:r>
              <a:rPr sz="1150" i="1" dirty="0">
                <a:solidFill>
                  <a:srgbClr val="3F6B4E"/>
                </a:solidFill>
                <a:latin typeface="Calibri"/>
              </a:rPr>
              <a:t> </a:t>
            </a:r>
            <a:r>
              <a:rPr sz="1150" i="1" dirty="0" err="1">
                <a:solidFill>
                  <a:srgbClr val="3F6B4E"/>
                </a:solidFill>
                <a:latin typeface="Calibri"/>
              </a:rPr>
              <a:t>količina</a:t>
            </a:r>
            <a:r>
              <a:rPr sz="1150" i="1" dirty="0">
                <a:solidFill>
                  <a:srgbClr val="3F6B4E"/>
                </a:solidFill>
                <a:latin typeface="Calibri"/>
              </a:rPr>
              <a:t>)  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Rahlo</a:t>
            </a:r>
            <a:r>
              <a:rPr sz="1250" dirty="0">
                <a:solidFill>
                  <a:srgbClr val="6E7D74"/>
                </a:solidFill>
                <a:latin typeface="Calibri"/>
              </a:rPr>
              <a:t>,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prozračno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gorivo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(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trava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,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makija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) gori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brzo</a:t>
            </a:r>
            <a:r>
              <a:rPr sz="1250" dirty="0">
                <a:solidFill>
                  <a:srgbClr val="6E7D74"/>
                </a:solidFill>
                <a:latin typeface="Calibri"/>
              </a:rPr>
              <a:t>;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zbijeno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(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šumska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prostirka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)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sporo</a:t>
            </a:r>
            <a:r>
              <a:rPr sz="1250" dirty="0">
                <a:solidFill>
                  <a:srgbClr val="6E7D74"/>
                </a:solidFill>
                <a:latin typeface="Calibri"/>
              </a:rPr>
              <a:t>;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negorivo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(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ceste</a:t>
            </a:r>
            <a:r>
              <a:rPr sz="1250" dirty="0">
                <a:solidFill>
                  <a:srgbClr val="6E7D74"/>
                </a:solidFill>
                <a:latin typeface="Calibri"/>
              </a:rPr>
              <a:t>,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voda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)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zaustavlja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frontu</a:t>
            </a:r>
            <a:r>
              <a:rPr sz="1250" dirty="0">
                <a:solidFill>
                  <a:srgbClr val="6E7D74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98064"/>
            <a:ext cx="110916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06253"/>
            <a:ext cx="9921240" cy="2248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dirty="0" err="1">
                <a:solidFill>
                  <a:srgbClr val="22302A"/>
                </a:solidFill>
                <a:latin typeface="Calibri"/>
              </a:rPr>
              <a:t>Vjetar</a:t>
            </a:r>
            <a:r>
              <a:rPr sz="1150" i="1" dirty="0">
                <a:solidFill>
                  <a:srgbClr val="E4610F"/>
                </a:solidFill>
                <a:latin typeface="Calibri"/>
              </a:rPr>
              <a:t>  (</a:t>
            </a:r>
            <a:r>
              <a:rPr sz="1150" i="1" dirty="0" err="1">
                <a:solidFill>
                  <a:srgbClr val="E4610F"/>
                </a:solidFill>
                <a:latin typeface="Calibri"/>
              </a:rPr>
              <a:t>brzina</a:t>
            </a:r>
            <a:r>
              <a:rPr sz="1150" i="1" dirty="0">
                <a:solidFill>
                  <a:srgbClr val="E4610F"/>
                </a:solidFill>
                <a:latin typeface="Calibri"/>
              </a:rPr>
              <a:t> </a:t>
            </a:r>
            <a:r>
              <a:rPr sz="1150" i="1" dirty="0" err="1">
                <a:solidFill>
                  <a:srgbClr val="E4610F"/>
                </a:solidFill>
                <a:latin typeface="Calibri"/>
              </a:rPr>
              <a:t>i</a:t>
            </a:r>
            <a:r>
              <a:rPr sz="1150" i="1" dirty="0">
                <a:solidFill>
                  <a:srgbClr val="E4610F"/>
                </a:solidFill>
                <a:latin typeface="Calibri"/>
              </a:rPr>
              <a:t> </a:t>
            </a:r>
            <a:r>
              <a:rPr sz="1150" i="1" dirty="0" err="1">
                <a:solidFill>
                  <a:srgbClr val="E4610F"/>
                </a:solidFill>
                <a:latin typeface="Calibri"/>
              </a:rPr>
              <a:t>smjer</a:t>
            </a:r>
            <a:r>
              <a:rPr sz="1150" i="1" dirty="0">
                <a:solidFill>
                  <a:srgbClr val="E4610F"/>
                </a:solidFill>
                <a:latin typeface="Calibri"/>
              </a:rPr>
              <a:t>)  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Najjači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čimbenik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lang="hr-HR" sz="1250" dirty="0">
                <a:solidFill>
                  <a:srgbClr val="6E7D74"/>
                </a:solidFill>
                <a:latin typeface="Calibri"/>
              </a:rPr>
              <a:t>-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gura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vatru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u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smjeru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puhanja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i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naglo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ubrzava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širenje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niz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vjetar</a:t>
            </a:r>
            <a:r>
              <a:rPr sz="1250" dirty="0">
                <a:solidFill>
                  <a:srgbClr val="6E7D74"/>
                </a:solidFill>
                <a:latin typeface="Calibri"/>
              </a:rPr>
              <a:t>, a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koči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uz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vjetar</a:t>
            </a:r>
            <a:r>
              <a:rPr sz="1250" dirty="0">
                <a:solidFill>
                  <a:srgbClr val="6E7D74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94176"/>
            <a:ext cx="110916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60" y="3867912"/>
            <a:ext cx="457200" cy="457200"/>
          </a:xfrm>
          <a:prstGeom prst="ellipse">
            <a:avLst/>
          </a:prstGeom>
          <a:solidFill>
            <a:srgbClr val="F3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85615"/>
            <a:ext cx="9921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>
                <a:solidFill>
                  <a:srgbClr val="22302A"/>
                </a:solidFill>
                <a:latin typeface="Calibri"/>
              </a:rPr>
              <a:t>Nagib</a:t>
            </a:r>
            <a:r>
              <a:rPr sz="1150" i="1">
                <a:solidFill>
                  <a:srgbClr val="F3902F"/>
                </a:solidFill>
                <a:latin typeface="Calibri"/>
              </a:rPr>
              <a:t>  (strmina terena)   </a:t>
            </a:r>
            <a:r>
              <a:rPr sz="1250">
                <a:solidFill>
                  <a:srgbClr val="6E7D74"/>
                </a:solidFill>
                <a:latin typeface="Calibri"/>
              </a:rPr>
              <a:t>Uzbrdo ubrzava jer plamen predgrijava gorivo iznad (raste s kvadratom nagiba); nizbrdo usporava.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90288"/>
            <a:ext cx="110916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" y="4764024"/>
            <a:ext cx="457200" cy="457200"/>
          </a:xfrm>
          <a:prstGeom prst="ellipse">
            <a:avLst/>
          </a:prstGeom>
          <a:solidFill>
            <a:srgbClr val="8A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98476"/>
            <a:ext cx="9921240" cy="2248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dirty="0" err="1">
                <a:solidFill>
                  <a:srgbClr val="22302A"/>
                </a:solidFill>
                <a:latin typeface="Calibri"/>
              </a:rPr>
              <a:t>Ekspozicija</a:t>
            </a:r>
            <a:r>
              <a:rPr sz="1150" i="1" dirty="0">
                <a:solidFill>
                  <a:srgbClr val="8AAE6B"/>
                </a:solidFill>
                <a:latin typeface="Calibri"/>
              </a:rPr>
              <a:t>  (</a:t>
            </a:r>
            <a:r>
              <a:rPr sz="1150" i="1" dirty="0" err="1">
                <a:solidFill>
                  <a:srgbClr val="8AAE6B"/>
                </a:solidFill>
                <a:latin typeface="Calibri"/>
              </a:rPr>
              <a:t>smjer</a:t>
            </a:r>
            <a:r>
              <a:rPr sz="1150" i="1" dirty="0">
                <a:solidFill>
                  <a:srgbClr val="8AAE6B"/>
                </a:solidFill>
                <a:latin typeface="Calibri"/>
              </a:rPr>
              <a:t> </a:t>
            </a:r>
            <a:r>
              <a:rPr sz="1150" i="1" dirty="0" err="1">
                <a:solidFill>
                  <a:srgbClr val="8AAE6B"/>
                </a:solidFill>
                <a:latin typeface="Calibri"/>
              </a:rPr>
              <a:t>padine</a:t>
            </a:r>
            <a:r>
              <a:rPr sz="1150" i="1" dirty="0">
                <a:solidFill>
                  <a:srgbClr val="8AAE6B"/>
                </a:solidFill>
                <a:latin typeface="Calibri"/>
              </a:rPr>
              <a:t>)  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Određuje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je li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širenje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u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danom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smjeru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„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uzbrdo</a:t>
            </a:r>
            <a:r>
              <a:rPr sz="1250" dirty="0">
                <a:solidFill>
                  <a:srgbClr val="6E7D74"/>
                </a:solidFill>
                <a:latin typeface="Calibri"/>
              </a:rPr>
              <a:t>“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ili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„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nizbrdo</a:t>
            </a:r>
            <a:r>
              <a:rPr sz="1250" dirty="0">
                <a:solidFill>
                  <a:srgbClr val="6E7D74"/>
                </a:solidFill>
                <a:latin typeface="Calibri"/>
              </a:rPr>
              <a:t>“ </a:t>
            </a:r>
            <a:r>
              <a:rPr lang="hr-HR" sz="1250" dirty="0">
                <a:solidFill>
                  <a:srgbClr val="6E7D74"/>
                </a:solidFill>
                <a:latin typeface="Calibri"/>
              </a:rPr>
              <a:t>-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projicira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nagib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na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smjer</a:t>
            </a:r>
            <a:r>
              <a:rPr sz="1250" dirty="0">
                <a:solidFill>
                  <a:srgbClr val="6E7D74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6E7D74"/>
                </a:solidFill>
                <a:latin typeface="Calibri"/>
              </a:rPr>
              <a:t>širenja</a:t>
            </a:r>
            <a:r>
              <a:rPr sz="1250" dirty="0">
                <a:solidFill>
                  <a:srgbClr val="6E7D74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1109167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5660136"/>
            <a:ext cx="457200" cy="457200"/>
          </a:xfrm>
          <a:prstGeom prst="ellipse">
            <a:avLst/>
          </a:prstGeom>
          <a:solidFill>
            <a:srgbClr val="4E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577840"/>
            <a:ext cx="9921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>
                <a:solidFill>
                  <a:srgbClr val="22302A"/>
                </a:solidFill>
                <a:latin typeface="Calibri"/>
              </a:rPr>
              <a:t>Vlažnost goriva</a:t>
            </a:r>
            <a:r>
              <a:rPr sz="1150" i="1">
                <a:solidFill>
                  <a:srgbClr val="4E8A8E"/>
                </a:solidFill>
                <a:latin typeface="Calibri"/>
              </a:rPr>
              <a:t>  (suho vs. vlažno)   </a:t>
            </a:r>
            <a:r>
              <a:rPr sz="1250">
                <a:solidFill>
                  <a:srgbClr val="6E7D74"/>
                </a:solidFill>
                <a:latin typeface="Calibri"/>
              </a:rPr>
              <a:t>Veća vlažnost usporava; iznad granice gašenja vatra se uopće ne širi. Ovisi o temperaturi i vlazi zraka.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60832" y="550672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570748"/>
            <a:ext cx="10424160" cy="431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22302A"/>
                </a:solidFill>
              </a:rPr>
              <a:t>Zahtjevi</a:t>
            </a:r>
            <a:r>
              <a:rPr sz="2800" b="1" i="0" dirty="0">
                <a:solidFill>
                  <a:srgbClr val="22302A"/>
                </a:solidFill>
                <a:latin typeface="Cambria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Cambria"/>
              </a:rPr>
              <a:t>sustava</a:t>
            </a:r>
            <a:endParaRPr sz="2800" b="1" i="0" dirty="0">
              <a:solidFill>
                <a:srgbClr val="22302A"/>
              </a:solidFill>
              <a:latin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892040" cy="2635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E4610F"/>
                </a:solidFill>
                <a:latin typeface="+mj-lt"/>
              </a:rPr>
              <a:t>Funkcionalni</a:t>
            </a:r>
            <a:endParaRPr sz="1700" b="1" i="0" dirty="0">
              <a:solidFill>
                <a:srgbClr val="E4610F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937760" cy="2626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600" b="1" dirty="0">
                <a:solidFill>
                  <a:srgbClr val="E4610F"/>
                </a:solidFill>
                <a:latin typeface="Calibri"/>
              </a:rPr>
              <a:t>F-01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Pregled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i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navigacija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karte</a:t>
            </a:r>
            <a:endParaRPr sz="1600" dirty="0">
              <a:solidFill>
                <a:srgbClr val="22302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600" b="1" dirty="0">
                <a:solidFill>
                  <a:srgbClr val="E4610F"/>
                </a:solidFill>
                <a:latin typeface="Calibri"/>
              </a:rPr>
              <a:t>F-02  </a:t>
            </a:r>
            <a:r>
              <a:rPr lang="hr-HR" sz="1600" dirty="0">
                <a:latin typeface="Calibri"/>
              </a:rPr>
              <a:t>O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dređivanje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područja</a:t>
            </a:r>
            <a:r>
              <a:rPr lang="hr-HR" sz="1600" dirty="0">
                <a:solidFill>
                  <a:srgbClr val="22302A"/>
                </a:solidFill>
                <a:latin typeface="Calibri"/>
              </a:rPr>
              <a:t> simulacije</a:t>
            </a:r>
            <a:endParaRPr sz="1600" dirty="0">
              <a:solidFill>
                <a:srgbClr val="22302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600" b="1" dirty="0">
                <a:solidFill>
                  <a:srgbClr val="E4610F"/>
                </a:solidFill>
                <a:latin typeface="Calibri"/>
              </a:rPr>
              <a:t>F-03  </a:t>
            </a:r>
            <a:r>
              <a:rPr lang="hr-HR" sz="1600" dirty="0">
                <a:solidFill>
                  <a:srgbClr val="22302A"/>
                </a:solidFill>
                <a:latin typeface="Calibri"/>
              </a:rPr>
              <a:t>Preuzimanje podataka</a:t>
            </a:r>
            <a:endParaRPr sz="1600" dirty="0">
              <a:solidFill>
                <a:srgbClr val="22302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600" b="1" dirty="0">
                <a:solidFill>
                  <a:srgbClr val="E4610F"/>
                </a:solidFill>
                <a:latin typeface="Calibri"/>
              </a:rPr>
              <a:t>F-04</a:t>
            </a:r>
            <a:r>
              <a:rPr lang="hr-HR" sz="1600" b="1" dirty="0">
                <a:solidFill>
                  <a:srgbClr val="E4610F"/>
                </a:solidFill>
                <a:latin typeface="Calibri"/>
              </a:rPr>
              <a:t>  </a:t>
            </a:r>
            <a:r>
              <a:rPr lang="hr-HR" sz="1600" dirty="0">
                <a:latin typeface="Calibri"/>
              </a:rPr>
              <a:t>Upravljanje simulacijom</a:t>
            </a:r>
            <a:endParaRPr sz="1600" dirty="0">
              <a:latin typeface="Calibri"/>
            </a:endParaRP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600" b="1" dirty="0">
                <a:solidFill>
                  <a:srgbClr val="E4610F"/>
                </a:solidFill>
                <a:latin typeface="Calibri"/>
              </a:rPr>
              <a:t>F-05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Postavljanje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točaka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paljenja</a:t>
            </a:r>
            <a:endParaRPr sz="1600" dirty="0">
              <a:solidFill>
                <a:srgbClr val="22302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600" b="1" dirty="0">
                <a:solidFill>
                  <a:srgbClr val="E4610F"/>
                </a:solidFill>
                <a:latin typeface="Calibri"/>
              </a:rPr>
              <a:t>F-06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Kontrola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brzine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simulacije</a:t>
            </a:r>
            <a:endParaRPr sz="1600" dirty="0">
              <a:solidFill>
                <a:srgbClr val="22302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600" b="1" dirty="0">
                <a:solidFill>
                  <a:srgbClr val="E4610F"/>
                </a:solidFill>
                <a:latin typeface="Calibri"/>
              </a:rPr>
              <a:t>F-07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Prikaz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proteklog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vremena</a:t>
            </a:r>
            <a:endParaRPr sz="1600" dirty="0">
              <a:solidFill>
                <a:srgbClr val="22302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600" b="1" dirty="0">
                <a:solidFill>
                  <a:srgbClr val="E4610F"/>
                </a:solidFill>
                <a:latin typeface="Calibri"/>
              </a:rPr>
              <a:t>F-08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Vizualizacija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stanja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ćelija</a:t>
            </a:r>
            <a:r>
              <a:rPr lang="hr-HR" sz="1600" dirty="0">
                <a:solidFill>
                  <a:srgbClr val="22302A"/>
                </a:solidFill>
                <a:latin typeface="Calibri"/>
              </a:rPr>
              <a:t> </a:t>
            </a:r>
            <a:endParaRPr sz="1600" dirty="0">
              <a:solidFill>
                <a:srgbClr val="22302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600" b="1" dirty="0">
                <a:solidFill>
                  <a:srgbClr val="E4610F"/>
                </a:solidFill>
                <a:latin typeface="Calibri"/>
              </a:rPr>
              <a:t>F-09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Prikaz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meteoroloških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podataka</a:t>
            </a:r>
            <a:endParaRPr sz="1600" dirty="0">
              <a:solidFill>
                <a:srgbClr val="22302A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468112" cy="4206240"/>
          </a:xfrm>
          <a:prstGeom prst="round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937760" cy="2635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700" b="1" i="0" dirty="0">
                <a:solidFill>
                  <a:srgbClr val="3F6B4E"/>
                </a:solidFill>
                <a:latin typeface="+mj-lt"/>
              </a:rPr>
              <a:t>Nefunkcionalni</a:t>
            </a:r>
            <a:endParaRPr sz="1700" b="1" i="0" dirty="0">
              <a:solidFill>
                <a:srgbClr val="3F6B4E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937760" cy="2108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600" b="1" dirty="0">
                <a:solidFill>
                  <a:srgbClr val="3F6B4E"/>
                </a:solidFill>
                <a:latin typeface="Calibri"/>
              </a:rPr>
              <a:t>NF-01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Responzivno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sučelje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pri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preuzimanju</a:t>
            </a:r>
            <a:endParaRPr sz="1600" dirty="0">
              <a:solidFill>
                <a:srgbClr val="22302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600" b="1" dirty="0">
                <a:solidFill>
                  <a:srgbClr val="3F6B4E"/>
                </a:solidFill>
                <a:latin typeface="Calibri"/>
              </a:rPr>
              <a:t>NF-02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Automatizacija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(bez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ručnog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unosa</a:t>
            </a:r>
            <a:r>
              <a:rPr sz="1600" dirty="0">
                <a:solidFill>
                  <a:srgbClr val="22302A"/>
                </a:solidFill>
                <a:latin typeface="Calibri"/>
              </a:rPr>
              <a:t>)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600" b="1" dirty="0">
                <a:solidFill>
                  <a:srgbClr val="3F6B4E"/>
                </a:solidFill>
                <a:latin typeface="Calibri"/>
              </a:rPr>
              <a:t>NF-03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Osvježavanje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prikaza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1×/s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600" b="1" dirty="0">
                <a:solidFill>
                  <a:srgbClr val="3F6B4E"/>
                </a:solidFill>
                <a:latin typeface="Calibri"/>
              </a:rPr>
              <a:t>NF-04  </a:t>
            </a:r>
            <a:r>
              <a:rPr sz="1600" dirty="0">
                <a:solidFill>
                  <a:srgbClr val="22302A"/>
                </a:solidFill>
                <a:latin typeface="Calibri"/>
              </a:rPr>
              <a:t>Rad bez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interneta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nakon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dohvata</a:t>
            </a:r>
            <a:endParaRPr sz="1600" dirty="0">
              <a:solidFill>
                <a:srgbClr val="22302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600" b="1" dirty="0">
                <a:solidFill>
                  <a:srgbClr val="3F6B4E"/>
                </a:solidFill>
                <a:latin typeface="Calibri"/>
              </a:rPr>
              <a:t>NF-05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Instalacija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jednom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naredbom</a:t>
            </a:r>
            <a:endParaRPr sz="1600" dirty="0">
              <a:solidFill>
                <a:srgbClr val="22302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600" b="1" dirty="0">
                <a:solidFill>
                  <a:srgbClr val="3F6B4E"/>
                </a:solidFill>
                <a:latin typeface="Calibri"/>
              </a:rPr>
              <a:t>NF-06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Stvarni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geo-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podaci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po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svakoj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ćeliji</a:t>
            </a:r>
            <a:endParaRPr sz="1600" dirty="0">
              <a:solidFill>
                <a:srgbClr val="22302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600" b="1" dirty="0">
                <a:solidFill>
                  <a:srgbClr val="3F6B4E"/>
                </a:solidFill>
                <a:latin typeface="Calibri"/>
              </a:rPr>
              <a:t>NF-07 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Ubrzanje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protoka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simuliranog</a:t>
            </a:r>
            <a:r>
              <a:rPr sz="1600" dirty="0">
                <a:solidFill>
                  <a:srgbClr val="22302A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2302A"/>
                </a:solidFill>
                <a:latin typeface="Calibri"/>
              </a:rPr>
              <a:t>vremena</a:t>
            </a:r>
            <a:endParaRPr sz="1600" dirty="0">
              <a:solidFill>
                <a:srgbClr val="2230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48640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5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7008" y="570748"/>
            <a:ext cx="10424160" cy="431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22302A"/>
                </a:solidFill>
                <a:latin typeface="+mj-lt"/>
              </a:rPr>
              <a:t>Arhitektura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aplikacije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595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22004"/>
            <a:ext cx="7315200" cy="7645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 dirty="0" err="1">
                <a:solidFill>
                  <a:srgbClr val="22302A"/>
                </a:solidFill>
              </a:rPr>
              <a:t>Grafičko</a:t>
            </a:r>
            <a:r>
              <a:rPr sz="1900" b="1" i="0" dirty="0">
                <a:solidFill>
                  <a:srgbClr val="22302A"/>
                </a:solidFill>
              </a:rPr>
              <a:t> </a:t>
            </a:r>
            <a:r>
              <a:rPr sz="1900" b="1" i="0" dirty="0" err="1">
                <a:solidFill>
                  <a:srgbClr val="22302A"/>
                </a:solidFill>
              </a:rPr>
              <a:t>sučelje</a:t>
            </a:r>
            <a:endParaRPr sz="1900" b="1" i="0" dirty="0">
              <a:solidFill>
                <a:srgbClr val="22302A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 dirty="0">
                <a:solidFill>
                  <a:srgbClr val="E4610F"/>
                </a:solidFill>
              </a:rPr>
              <a:t>ui.py · slippy_map.py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6E7D74"/>
                </a:solidFill>
              </a:rPr>
              <a:t>Interaktivna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karta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i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prikaz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požara</a:t>
            </a:r>
            <a:r>
              <a:rPr sz="1350" b="0" i="0" dirty="0">
                <a:solidFill>
                  <a:srgbClr val="6E7D74"/>
                </a:solidFill>
              </a:rPr>
              <a:t>; </a:t>
            </a:r>
            <a:r>
              <a:rPr sz="1350" b="0" i="0" dirty="0" err="1">
                <a:solidFill>
                  <a:srgbClr val="6E7D74"/>
                </a:solidFill>
              </a:rPr>
              <a:t>sve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korisničke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akcije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i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vizualni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izlaz</a:t>
            </a:r>
            <a:r>
              <a:rPr sz="1350" b="0" i="0" dirty="0">
                <a:solidFill>
                  <a:srgbClr val="6E7D74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72968"/>
            <a:ext cx="8595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3584448"/>
            <a:ext cx="548640" cy="548640"/>
          </a:xfrm>
          <a:prstGeom prst="ellipse">
            <a:avLst/>
          </a:prstGeom>
          <a:solidFill>
            <a:srgbClr val="3F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494772"/>
            <a:ext cx="7315200" cy="7645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 dirty="0" err="1">
                <a:solidFill>
                  <a:srgbClr val="22302A"/>
                </a:solidFill>
                <a:latin typeface="+mj-lt"/>
              </a:rPr>
              <a:t>Jezgra</a:t>
            </a:r>
            <a:r>
              <a:rPr sz="19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1900" b="1" i="0" dirty="0" err="1">
                <a:solidFill>
                  <a:srgbClr val="22302A"/>
                </a:solidFill>
                <a:latin typeface="+mj-lt"/>
              </a:rPr>
              <a:t>simulacije</a:t>
            </a:r>
            <a:endParaRPr sz="1900" b="1" i="0" dirty="0">
              <a:solidFill>
                <a:srgbClr val="22302A"/>
              </a:solidFill>
              <a:latin typeface="+mj-lt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 dirty="0">
                <a:solidFill>
                  <a:srgbClr val="3F6B4E"/>
                </a:solidFill>
                <a:latin typeface="+mj-lt"/>
              </a:rPr>
              <a:t>simulation.py · rothermel.py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6E7D74"/>
                </a:solidFill>
                <a:latin typeface="+mj-lt"/>
              </a:rPr>
              <a:t>Fizikalni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model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širenja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i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stanični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automat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nad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rešetkom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45736"/>
            <a:ext cx="8595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" y="5157216"/>
            <a:ext cx="548640" cy="548640"/>
          </a:xfrm>
          <a:prstGeom prst="ellipse">
            <a:avLst/>
          </a:prstGeom>
          <a:solidFill>
            <a:srgbClr val="8A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067539"/>
            <a:ext cx="7315200" cy="7645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 dirty="0" err="1">
                <a:solidFill>
                  <a:srgbClr val="22302A"/>
                </a:solidFill>
              </a:rPr>
              <a:t>Vanjski</a:t>
            </a:r>
            <a:r>
              <a:rPr sz="1900" b="1" i="0" dirty="0">
                <a:solidFill>
                  <a:srgbClr val="22302A"/>
                </a:solidFill>
              </a:rPr>
              <a:t> </a:t>
            </a:r>
            <a:r>
              <a:rPr sz="1900" b="1" i="0" dirty="0" err="1">
                <a:solidFill>
                  <a:srgbClr val="22302A"/>
                </a:solidFill>
              </a:rPr>
              <a:t>izvori</a:t>
            </a:r>
            <a:r>
              <a:rPr sz="1900" b="1" i="0" dirty="0">
                <a:solidFill>
                  <a:srgbClr val="22302A"/>
                </a:solidFill>
              </a:rPr>
              <a:t> </a:t>
            </a:r>
            <a:r>
              <a:rPr sz="1900" b="1" i="0" dirty="0" err="1">
                <a:solidFill>
                  <a:srgbClr val="22302A"/>
                </a:solidFill>
              </a:rPr>
              <a:t>podataka</a:t>
            </a:r>
            <a:endParaRPr sz="1900" b="1" i="0" dirty="0">
              <a:solidFill>
                <a:srgbClr val="22302A"/>
              </a:solidFill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 dirty="0">
                <a:solidFill>
                  <a:srgbClr val="8AAE6B"/>
                </a:solidFill>
              </a:rPr>
              <a:t>data_fetcher.py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6E7D74"/>
                </a:solidFill>
              </a:rPr>
              <a:t>Dohvat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i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obrada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podataka</a:t>
            </a:r>
            <a:r>
              <a:rPr sz="1350" b="0" i="0" dirty="0">
                <a:solidFill>
                  <a:srgbClr val="6E7D74"/>
                </a:solidFill>
              </a:rPr>
              <a:t> s </a:t>
            </a:r>
            <a:r>
              <a:rPr sz="1350" b="0" i="0" dirty="0" err="1">
                <a:solidFill>
                  <a:srgbClr val="6E7D74"/>
                </a:solidFill>
              </a:rPr>
              <a:t>vanjskih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servisa</a:t>
            </a:r>
            <a:r>
              <a:rPr sz="1350" b="0" i="0" dirty="0">
                <a:solidFill>
                  <a:srgbClr val="6E7D74"/>
                </a:solidFill>
              </a:rPr>
              <a:t> u </a:t>
            </a:r>
            <a:r>
              <a:rPr sz="1350" b="0" i="0" dirty="0" err="1">
                <a:solidFill>
                  <a:srgbClr val="6E7D74"/>
                </a:solidFill>
              </a:rPr>
              <a:t>jedinstveni</a:t>
            </a:r>
            <a:r>
              <a:rPr sz="1350" b="0" i="0" dirty="0">
                <a:solidFill>
                  <a:srgbClr val="6E7D74"/>
                </a:solidFill>
              </a:rPr>
              <a:t> </a:t>
            </a:r>
            <a:r>
              <a:rPr sz="1350" b="0" i="0" dirty="0" err="1">
                <a:solidFill>
                  <a:srgbClr val="6E7D74"/>
                </a:solidFill>
              </a:rPr>
              <a:t>objekt</a:t>
            </a:r>
            <a:r>
              <a:rPr sz="1350" b="0" i="0" dirty="0">
                <a:solidFill>
                  <a:srgbClr val="6E7D74"/>
                </a:solidFill>
              </a:rPr>
              <a:t>.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464040" y="2560320"/>
            <a:ext cx="502920" cy="2743200"/>
          </a:xfrm>
          <a:prstGeom prst="downArrow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04020" y="1985917"/>
            <a:ext cx="822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300" b="1" i="0" dirty="0">
                <a:latin typeface="Calibri"/>
              </a:rPr>
              <a:t>Pozivi API servisa</a:t>
            </a:r>
          </a:p>
        </p:txBody>
      </p:sp>
      <p:sp>
        <p:nvSpPr>
          <p:cNvPr id="15" name="Up Arrow 14"/>
          <p:cNvSpPr/>
          <p:nvPr/>
        </p:nvSpPr>
        <p:spPr>
          <a:xfrm>
            <a:off x="10607040" y="2560320"/>
            <a:ext cx="502920" cy="2743200"/>
          </a:xfrm>
          <a:prstGeom prst="upArrow">
            <a:avLst/>
          </a:prstGeom>
          <a:solidFill>
            <a:srgbClr val="3F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800080"/>
              </a:highlight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66B8382B-B846-473C-BB99-562697B778A8}"/>
              </a:ext>
            </a:extLst>
          </p:cNvPr>
          <p:cNvSpPr txBox="1"/>
          <p:nvPr/>
        </p:nvSpPr>
        <p:spPr>
          <a:xfrm>
            <a:off x="10447020" y="5391466"/>
            <a:ext cx="822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300" b="1" i="0" dirty="0">
                <a:latin typeface="Calibri"/>
              </a:rPr>
              <a:t>Podatci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300" b="1" dirty="0">
                <a:latin typeface="Calibri"/>
              </a:rPr>
              <a:t>Za obradu</a:t>
            </a:r>
            <a:endParaRPr lang="hr-HR" sz="1300" b="1" i="0" dirty="0"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48639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6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7008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22302A"/>
                </a:solidFill>
                <a:latin typeface="+mj-lt"/>
              </a:rPr>
              <a:t>Izvori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podataka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i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što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se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dobiva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2852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59" y="1965960"/>
            <a:ext cx="1005840" cy="1005840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DEM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239813"/>
            <a:ext cx="3566160" cy="5495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dirty="0" err="1">
                <a:solidFill>
                  <a:srgbClr val="22302A"/>
                </a:solidFill>
                <a:latin typeface="+mj-lt"/>
              </a:rPr>
              <a:t>OpenTopography</a:t>
            </a:r>
            <a:endParaRPr sz="1800" b="1" i="0" dirty="0">
              <a:solidFill>
                <a:srgbClr val="22302A"/>
              </a:solidFill>
              <a:latin typeface="+mj-lt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6E7D74"/>
                </a:solidFill>
                <a:latin typeface="+mj-lt"/>
              </a:rPr>
              <a:t>Digitalni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model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reljefa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→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nagib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i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ekspozicija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terena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54480"/>
            <a:ext cx="52852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629400" y="1965960"/>
            <a:ext cx="1005840" cy="1005840"/>
          </a:xfrm>
          <a:prstGeom prst="ellipse">
            <a:avLst/>
          </a:prstGeom>
          <a:solidFill>
            <a:srgbClr val="3F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NDVI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23467"/>
            <a:ext cx="3566160" cy="782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dirty="0">
                <a:solidFill>
                  <a:srgbClr val="22302A"/>
                </a:solidFill>
                <a:latin typeface="+mj-lt"/>
              </a:rPr>
              <a:t>Sentinel Hub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6E7D74"/>
                </a:solidFill>
                <a:latin typeface="+mj-lt"/>
              </a:rPr>
              <a:t>Satelitska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snimka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→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vegetacijski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indeks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→ model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goriva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52852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59" y="4069080"/>
            <a:ext cx="1005840" cy="1005840"/>
          </a:xfrm>
          <a:prstGeom prst="ellipse">
            <a:avLst/>
          </a:prstGeom>
          <a:solidFill>
            <a:srgbClr val="F3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342933"/>
            <a:ext cx="3566160" cy="5495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dirty="0">
                <a:solidFill>
                  <a:srgbClr val="22302A"/>
                </a:solidFill>
                <a:latin typeface="+mj-lt"/>
              </a:rPr>
              <a:t>Open-</a:t>
            </a:r>
            <a:r>
              <a:rPr sz="1800" b="1" i="0" dirty="0" err="1">
                <a:solidFill>
                  <a:srgbClr val="22302A"/>
                </a:solidFill>
                <a:latin typeface="+mj-lt"/>
              </a:rPr>
              <a:t>Meteo</a:t>
            </a:r>
            <a:endParaRPr sz="1800" b="1" i="0" dirty="0">
              <a:solidFill>
                <a:srgbClr val="22302A"/>
              </a:solidFill>
              <a:latin typeface="+mj-lt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6E7D74"/>
                </a:solidFill>
                <a:latin typeface="+mj-lt"/>
              </a:rPr>
              <a:t>Vjetar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,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temperatura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i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vlažnost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→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vlažnost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goriva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657600"/>
            <a:ext cx="52852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29400" y="4069080"/>
            <a:ext cx="1005840" cy="1005840"/>
          </a:xfrm>
          <a:prstGeom prst="ellipse">
            <a:avLst/>
          </a:prstGeom>
          <a:solidFill>
            <a:srgbClr val="8A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KARTA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26587"/>
            <a:ext cx="3566160" cy="782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 dirty="0">
                <a:solidFill>
                  <a:srgbClr val="22302A"/>
                </a:solidFill>
                <a:latin typeface="+mj-lt"/>
              </a:rPr>
              <a:t>OpenStreetMap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6E7D74"/>
                </a:solidFill>
                <a:latin typeface="+mj-lt"/>
              </a:rPr>
              <a:t>Kartografska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podloga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+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voda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/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ceste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/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naselja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 → </a:t>
            </a:r>
            <a:r>
              <a:rPr sz="1350" b="0" i="0" dirty="0" err="1">
                <a:solidFill>
                  <a:srgbClr val="6E7D74"/>
                </a:solidFill>
                <a:latin typeface="+mj-lt"/>
              </a:rPr>
              <a:t>negorivo</a:t>
            </a:r>
            <a:r>
              <a:rPr sz="1350" b="0" i="0" dirty="0">
                <a:solidFill>
                  <a:srgbClr val="6E7D74"/>
                </a:solidFill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48639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7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7008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b="1" i="0" dirty="0">
                <a:solidFill>
                  <a:srgbClr val="22302A"/>
                </a:solidFill>
                <a:latin typeface="+mj-lt"/>
              </a:rPr>
              <a:t>Kako aplikacija radi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pic>
        <p:nvPicPr>
          <p:cNvPr id="24" name="Slika 23">
            <a:extLst>
              <a:ext uri="{FF2B5EF4-FFF2-40B4-BE49-F238E27FC236}">
                <a16:creationId xmlns:a16="http://schemas.microsoft.com/office/drawing/2014/main" id="{54EF6BFA-0431-4506-A126-7EB4D9741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946489"/>
            <a:ext cx="4953000" cy="4965021"/>
          </a:xfrm>
          <a:prstGeom prst="rect">
            <a:avLst/>
          </a:prstGeom>
        </p:spPr>
      </p:pic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86419DC4-2850-457A-80E1-CF7CF342C807}"/>
              </a:ext>
            </a:extLst>
          </p:cNvPr>
          <p:cNvSpPr/>
          <p:nvPr/>
        </p:nvSpPr>
        <p:spPr>
          <a:xfrm>
            <a:off x="548640" y="2150205"/>
            <a:ext cx="3823335" cy="2557589"/>
          </a:xfrm>
          <a:prstGeom prst="round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562D9F3-DCBC-42C5-BACF-564E8FAA051B}"/>
              </a:ext>
            </a:extLst>
          </p:cNvPr>
          <p:cNvSpPr txBox="1"/>
          <p:nvPr/>
        </p:nvSpPr>
        <p:spPr>
          <a:xfrm>
            <a:off x="990982" y="2700306"/>
            <a:ext cx="349948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3200" b="1" i="0" dirty="0">
                <a:solidFill>
                  <a:srgbClr val="22302A"/>
                </a:solidFill>
                <a:latin typeface="+mj-lt"/>
              </a:rPr>
              <a:t>1. Odabir područja</a:t>
            </a:r>
            <a:endParaRPr sz="32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81804941-6020-4237-9067-A9EDD7BDA5A8}"/>
              </a:ext>
            </a:extLst>
          </p:cNvPr>
          <p:cNvSpPr txBox="1"/>
          <p:nvPr/>
        </p:nvSpPr>
        <p:spPr>
          <a:xfrm>
            <a:off x="1082040" y="3349948"/>
            <a:ext cx="2614422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600" b="0" i="0" dirty="0">
                <a:solidFill>
                  <a:srgbClr val="48524C"/>
                </a:solidFill>
                <a:latin typeface="Calibri"/>
              </a:rPr>
              <a:t>Pomicanjem i zumiranjem karte odabire se dio terena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48639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7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7008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b="1" i="0" dirty="0">
                <a:solidFill>
                  <a:srgbClr val="22302A"/>
                </a:solidFill>
                <a:latin typeface="+mj-lt"/>
              </a:rPr>
              <a:t>Kako aplikacija radi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DB3E5005-936E-454F-A7C3-F259D2735063}"/>
              </a:ext>
            </a:extLst>
          </p:cNvPr>
          <p:cNvSpPr/>
          <p:nvPr/>
        </p:nvSpPr>
        <p:spPr>
          <a:xfrm>
            <a:off x="548640" y="2150205"/>
            <a:ext cx="3941826" cy="2557589"/>
          </a:xfrm>
          <a:prstGeom prst="round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6558EF56-263B-427E-AFF8-EAF73ACF7F0E}"/>
              </a:ext>
            </a:extLst>
          </p:cNvPr>
          <p:cNvSpPr txBox="1"/>
          <p:nvPr/>
        </p:nvSpPr>
        <p:spPr>
          <a:xfrm>
            <a:off x="990982" y="2700306"/>
            <a:ext cx="349948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3200" b="1" dirty="0">
                <a:solidFill>
                  <a:srgbClr val="22302A"/>
                </a:solidFill>
                <a:latin typeface="+mj-lt"/>
              </a:rPr>
              <a:t>2. </a:t>
            </a:r>
            <a:r>
              <a:rPr lang="hr-HR" sz="3200" b="1" i="0" dirty="0">
                <a:solidFill>
                  <a:srgbClr val="22302A"/>
                </a:solidFill>
                <a:latin typeface="+mj-lt"/>
              </a:rPr>
              <a:t>Dohvat podataka</a:t>
            </a:r>
            <a:endParaRPr sz="32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01C1795E-4E14-4191-AED7-E00D7279837F}"/>
              </a:ext>
            </a:extLst>
          </p:cNvPr>
          <p:cNvSpPr txBox="1"/>
          <p:nvPr/>
        </p:nvSpPr>
        <p:spPr>
          <a:xfrm>
            <a:off x="1082040" y="3349948"/>
            <a:ext cx="2614422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600" b="0" i="0" dirty="0">
                <a:solidFill>
                  <a:srgbClr val="48524C"/>
                </a:solidFill>
                <a:latin typeface="Calibri"/>
              </a:rPr>
              <a:t>Preuzimanju se reljef, vegetacij</a:t>
            </a:r>
            <a:r>
              <a:rPr lang="hr-HR" sz="1600" dirty="0">
                <a:solidFill>
                  <a:srgbClr val="48524C"/>
                </a:solidFill>
                <a:latin typeface="Calibri"/>
              </a:rPr>
              <a:t>a i vrijeme</a:t>
            </a:r>
            <a:endParaRPr lang="hr-HR" sz="1600" b="0" i="0" dirty="0">
              <a:solidFill>
                <a:srgbClr val="48524C"/>
              </a:solidFill>
              <a:latin typeface="Calibri"/>
            </a:endParaRPr>
          </a:p>
        </p:txBody>
      </p:sp>
      <p:pic>
        <p:nvPicPr>
          <p:cNvPr id="30" name="Slika 29">
            <a:extLst>
              <a:ext uri="{FF2B5EF4-FFF2-40B4-BE49-F238E27FC236}">
                <a16:creationId xmlns:a16="http://schemas.microsoft.com/office/drawing/2014/main" id="{3785B6CE-9053-4F4C-BA5B-C6C05AE63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961" y="4591142"/>
            <a:ext cx="7063399" cy="1349792"/>
          </a:xfrm>
          <a:prstGeom prst="rect">
            <a:avLst/>
          </a:prstGeom>
        </p:spPr>
      </p:pic>
      <p:pic>
        <p:nvPicPr>
          <p:cNvPr id="32" name="Slika 31">
            <a:extLst>
              <a:ext uri="{FF2B5EF4-FFF2-40B4-BE49-F238E27FC236}">
                <a16:creationId xmlns:a16="http://schemas.microsoft.com/office/drawing/2014/main" id="{C19BEE0C-DCC0-4075-982D-0D15C0A53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9683" y="2222710"/>
            <a:ext cx="4143953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271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48639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7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7008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b="1" i="0" dirty="0">
                <a:solidFill>
                  <a:srgbClr val="22302A"/>
                </a:solidFill>
                <a:latin typeface="+mj-lt"/>
              </a:rPr>
              <a:t>Kako aplikacija radi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DB3E5005-936E-454F-A7C3-F259D2735063}"/>
              </a:ext>
            </a:extLst>
          </p:cNvPr>
          <p:cNvSpPr/>
          <p:nvPr/>
        </p:nvSpPr>
        <p:spPr>
          <a:xfrm>
            <a:off x="548640" y="2150205"/>
            <a:ext cx="3747135" cy="2557589"/>
          </a:xfrm>
          <a:prstGeom prst="round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6558EF56-263B-427E-AFF8-EAF73ACF7F0E}"/>
              </a:ext>
            </a:extLst>
          </p:cNvPr>
          <p:cNvSpPr txBox="1"/>
          <p:nvPr/>
        </p:nvSpPr>
        <p:spPr>
          <a:xfrm>
            <a:off x="1024128" y="2700306"/>
            <a:ext cx="346633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3200" b="1" i="0" dirty="0">
                <a:solidFill>
                  <a:srgbClr val="22302A"/>
                </a:solidFill>
                <a:latin typeface="+mj-lt"/>
              </a:rPr>
              <a:t>3. Simulacija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01C1795E-4E14-4191-AED7-E00D7279837F}"/>
              </a:ext>
            </a:extLst>
          </p:cNvPr>
          <p:cNvSpPr txBox="1"/>
          <p:nvPr/>
        </p:nvSpPr>
        <p:spPr>
          <a:xfrm>
            <a:off x="1082040" y="3349948"/>
            <a:ext cx="2614422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600" b="0" i="0" dirty="0" err="1">
                <a:solidFill>
                  <a:srgbClr val="6E7D74"/>
                </a:solidFill>
                <a:latin typeface="Calibri"/>
              </a:rPr>
              <a:t>Rothermel</a:t>
            </a:r>
            <a:r>
              <a:rPr lang="hr-HR" sz="1600" b="0" i="0" dirty="0">
                <a:solidFill>
                  <a:srgbClr val="6E7D74"/>
                </a:solidFill>
                <a:latin typeface="Calibri"/>
              </a:rPr>
              <a:t> model + stanični automat računaju širenje.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01502D62-C5DE-40FC-834B-E13DCC49DBEC}"/>
              </a:ext>
            </a:extLst>
          </p:cNvPr>
          <p:cNvSpPr/>
          <p:nvPr/>
        </p:nvSpPr>
        <p:spPr>
          <a:xfrm>
            <a:off x="786384" y="5274500"/>
            <a:ext cx="11091672" cy="868680"/>
          </a:xfrm>
          <a:prstGeom prst="roundRect">
            <a:avLst/>
          </a:prstGeom>
          <a:solidFill>
            <a:srgbClr val="1C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/>
            <a:r>
              <a:rPr sz="1700" dirty="0" err="1">
                <a:solidFill>
                  <a:srgbClr val="F2C9A0"/>
                </a:solidFill>
                <a:latin typeface="Consolas"/>
              </a:rPr>
              <a:t>ros_ft</a:t>
            </a:r>
            <a:r>
              <a:rPr sz="1700" dirty="0">
                <a:solidFill>
                  <a:srgbClr val="F2C9A0"/>
                </a:solidFill>
                <a:latin typeface="Consolas"/>
              </a:rPr>
              <a:t> = (IR * xi * (1 + </a:t>
            </a:r>
            <a:r>
              <a:rPr sz="1700" dirty="0" err="1">
                <a:solidFill>
                  <a:srgbClr val="F2C9A0"/>
                </a:solidFill>
                <a:latin typeface="Consolas"/>
              </a:rPr>
              <a:t>phi_w</a:t>
            </a:r>
            <a:r>
              <a:rPr sz="1700" dirty="0">
                <a:solidFill>
                  <a:srgbClr val="F2C9A0"/>
                </a:solidFill>
                <a:latin typeface="Consolas"/>
              </a:rPr>
              <a:t> + </a:t>
            </a:r>
            <a:r>
              <a:rPr sz="1700" dirty="0" err="1">
                <a:solidFill>
                  <a:srgbClr val="F2C9A0"/>
                </a:solidFill>
                <a:latin typeface="Consolas"/>
              </a:rPr>
              <a:t>phi_s</a:t>
            </a:r>
            <a:r>
              <a:rPr sz="1700" dirty="0">
                <a:solidFill>
                  <a:srgbClr val="F2C9A0"/>
                </a:solidFill>
                <a:latin typeface="Consolas"/>
              </a:rPr>
              <a:t>)) / (</a:t>
            </a:r>
            <a:r>
              <a:rPr sz="1700" dirty="0" err="1">
                <a:solidFill>
                  <a:srgbClr val="F2C9A0"/>
                </a:solidFill>
                <a:latin typeface="Consolas"/>
              </a:rPr>
              <a:t>rho_b</a:t>
            </a:r>
            <a:r>
              <a:rPr sz="1700" dirty="0">
                <a:solidFill>
                  <a:srgbClr val="F2C9A0"/>
                </a:solidFill>
                <a:latin typeface="Consolas"/>
              </a:rPr>
              <a:t> * epsilon * </a:t>
            </a:r>
            <a:r>
              <a:rPr sz="1700" dirty="0" err="1">
                <a:solidFill>
                  <a:srgbClr val="F2C9A0"/>
                </a:solidFill>
                <a:latin typeface="Consolas"/>
              </a:rPr>
              <a:t>Q_ig</a:t>
            </a:r>
            <a:r>
              <a:rPr sz="1700" dirty="0">
                <a:solidFill>
                  <a:srgbClr val="F2C9A0"/>
                </a:solidFill>
                <a:latin typeface="Consolas"/>
              </a:rPr>
              <a:t>)</a:t>
            </a:r>
          </a:p>
          <a:p>
            <a:r>
              <a:rPr sz="1200" i="1" dirty="0">
                <a:solidFill>
                  <a:srgbClr val="8AAE6B"/>
                </a:solidFill>
                <a:latin typeface="Calibri"/>
              </a:rPr>
              <a:t>→  </a:t>
            </a:r>
            <a:r>
              <a:rPr sz="1200" i="1" dirty="0" err="1">
                <a:solidFill>
                  <a:srgbClr val="8AAE6B"/>
                </a:solidFill>
                <a:latin typeface="Calibri"/>
              </a:rPr>
              <a:t>rezultat</a:t>
            </a:r>
            <a:r>
              <a:rPr sz="1200" i="1" dirty="0">
                <a:solidFill>
                  <a:srgbClr val="8AAE6B"/>
                </a:solidFill>
                <a:latin typeface="Calibri"/>
              </a:rPr>
              <a:t> u ft/min </a:t>
            </a:r>
            <a:r>
              <a:rPr sz="1200" i="1" dirty="0" err="1">
                <a:solidFill>
                  <a:srgbClr val="8AAE6B"/>
                </a:solidFill>
                <a:latin typeface="Calibri"/>
              </a:rPr>
              <a:t>pomnoži</a:t>
            </a:r>
            <a:r>
              <a:rPr sz="1200" i="1" dirty="0">
                <a:solidFill>
                  <a:srgbClr val="8AAE6B"/>
                </a:solidFill>
                <a:latin typeface="Calibri"/>
              </a:rPr>
              <a:t> se s 0,3048  →  m/min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AD3D45AA-976C-4E9B-99A8-99EC27B40196}"/>
              </a:ext>
            </a:extLst>
          </p:cNvPr>
          <p:cNvSpPr/>
          <p:nvPr/>
        </p:nvSpPr>
        <p:spPr>
          <a:xfrm>
            <a:off x="5623560" y="1570136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6">
            <a:extLst>
              <a:ext uri="{FF2B5EF4-FFF2-40B4-BE49-F238E27FC236}">
                <a16:creationId xmlns:a16="http://schemas.microsoft.com/office/drawing/2014/main" id="{118BD512-9DF9-40FB-B1D8-BC92B317BE3F}"/>
              </a:ext>
            </a:extLst>
          </p:cNvPr>
          <p:cNvSpPr/>
          <p:nvPr/>
        </p:nvSpPr>
        <p:spPr>
          <a:xfrm>
            <a:off x="5806440" y="1716440"/>
            <a:ext cx="365760" cy="365760"/>
          </a:xfrm>
          <a:prstGeom prst="ellipse">
            <a:avLst/>
          </a:prstGeom>
          <a:solidFill>
            <a:srgbClr val="3F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4AAD7540-643D-4E25-846B-300EE36EBA52}"/>
              </a:ext>
            </a:extLst>
          </p:cNvPr>
          <p:cNvSpPr txBox="1"/>
          <p:nvPr/>
        </p:nvSpPr>
        <p:spPr>
          <a:xfrm>
            <a:off x="6355080" y="16250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22302A"/>
                </a:solidFill>
                <a:latin typeface="Calibri"/>
              </a:rPr>
              <a:t>Gorivo  →  </a:t>
            </a:r>
            <a:r>
              <a:rPr sz="1200">
                <a:solidFill>
                  <a:srgbClr val="6E7D74"/>
                </a:solidFill>
                <a:latin typeface="Calibri"/>
              </a:rPr>
              <a:t>IR, ξ, ρ_b, ε, Q_ig — svojstva goriva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C1263B34-1811-4C23-B64A-4738AF9A6080}"/>
              </a:ext>
            </a:extLst>
          </p:cNvPr>
          <p:cNvSpPr/>
          <p:nvPr/>
        </p:nvSpPr>
        <p:spPr>
          <a:xfrm>
            <a:off x="5623560" y="2301656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85A7A127-7255-4D1E-9A38-133908721307}"/>
              </a:ext>
            </a:extLst>
          </p:cNvPr>
          <p:cNvSpPr/>
          <p:nvPr/>
        </p:nvSpPr>
        <p:spPr>
          <a:xfrm>
            <a:off x="5806440" y="2447960"/>
            <a:ext cx="365760" cy="365760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B49E5D82-5EF4-4712-9E2C-9435911FD544}"/>
              </a:ext>
            </a:extLst>
          </p:cNvPr>
          <p:cNvSpPr txBox="1"/>
          <p:nvPr/>
        </p:nvSpPr>
        <p:spPr>
          <a:xfrm>
            <a:off x="6355080" y="235652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22302A"/>
                </a:solidFill>
                <a:latin typeface="Calibri"/>
              </a:rPr>
              <a:t>Vjetar  →  </a:t>
            </a:r>
            <a:r>
              <a:rPr sz="1200">
                <a:solidFill>
                  <a:srgbClr val="6E7D74"/>
                </a:solidFill>
                <a:latin typeface="Calibri"/>
              </a:rPr>
              <a:t>φ_w — faktor vjetra</a:t>
            </a:r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E567766A-6561-4670-BA46-F4D18FDF2F4B}"/>
              </a:ext>
            </a:extLst>
          </p:cNvPr>
          <p:cNvSpPr/>
          <p:nvPr/>
        </p:nvSpPr>
        <p:spPr>
          <a:xfrm>
            <a:off x="5623560" y="3033176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2">
            <a:extLst>
              <a:ext uri="{FF2B5EF4-FFF2-40B4-BE49-F238E27FC236}">
                <a16:creationId xmlns:a16="http://schemas.microsoft.com/office/drawing/2014/main" id="{A046E031-E1E1-4E77-923C-1C4D0CE86582}"/>
              </a:ext>
            </a:extLst>
          </p:cNvPr>
          <p:cNvSpPr/>
          <p:nvPr/>
        </p:nvSpPr>
        <p:spPr>
          <a:xfrm>
            <a:off x="5806440" y="3179480"/>
            <a:ext cx="365760" cy="365760"/>
          </a:xfrm>
          <a:prstGeom prst="ellipse">
            <a:avLst/>
          </a:prstGeom>
          <a:solidFill>
            <a:srgbClr val="F3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DF1FDC3C-A2BB-4732-9A08-B739A4E4074B}"/>
              </a:ext>
            </a:extLst>
          </p:cNvPr>
          <p:cNvSpPr txBox="1"/>
          <p:nvPr/>
        </p:nvSpPr>
        <p:spPr>
          <a:xfrm>
            <a:off x="6355080" y="30880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22302A"/>
                </a:solidFill>
                <a:latin typeface="Calibri"/>
              </a:rPr>
              <a:t>Nagib + ekspozicija  →  </a:t>
            </a:r>
            <a:r>
              <a:rPr sz="1200">
                <a:solidFill>
                  <a:srgbClr val="6E7D74"/>
                </a:solidFill>
                <a:latin typeface="Calibri"/>
              </a:rPr>
              <a:t>φ_s — faktor nagiba</a:t>
            </a:r>
          </a:p>
        </p:txBody>
      </p: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1AAD4AE4-9F99-43E2-A7DA-10AB76342592}"/>
              </a:ext>
            </a:extLst>
          </p:cNvPr>
          <p:cNvSpPr/>
          <p:nvPr/>
        </p:nvSpPr>
        <p:spPr>
          <a:xfrm>
            <a:off x="5623560" y="3764696"/>
            <a:ext cx="5486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15">
            <a:extLst>
              <a:ext uri="{FF2B5EF4-FFF2-40B4-BE49-F238E27FC236}">
                <a16:creationId xmlns:a16="http://schemas.microsoft.com/office/drawing/2014/main" id="{61872876-0A3E-4272-B4CF-1C4A004CCD4F}"/>
              </a:ext>
            </a:extLst>
          </p:cNvPr>
          <p:cNvSpPr/>
          <p:nvPr/>
        </p:nvSpPr>
        <p:spPr>
          <a:xfrm>
            <a:off x="5806440" y="3911000"/>
            <a:ext cx="365760" cy="365760"/>
          </a:xfrm>
          <a:prstGeom prst="ellipse">
            <a:avLst/>
          </a:prstGeom>
          <a:solidFill>
            <a:srgbClr val="4E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140F0AA9-C7D3-47E8-8067-866437B3ECEC}"/>
              </a:ext>
            </a:extLst>
          </p:cNvPr>
          <p:cNvSpPr txBox="1"/>
          <p:nvPr/>
        </p:nvSpPr>
        <p:spPr>
          <a:xfrm>
            <a:off x="6355080" y="381956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22302A"/>
                </a:solidFill>
                <a:latin typeface="Calibri"/>
              </a:rPr>
              <a:t>Vlažnost  →  </a:t>
            </a:r>
            <a:r>
              <a:rPr sz="1200">
                <a:solidFill>
                  <a:srgbClr val="6E7D74"/>
                </a:solidFill>
                <a:latin typeface="Calibri"/>
              </a:rPr>
              <a:t>prigušenje η_M i toplina paljenja Q_ig</a:t>
            </a:r>
          </a:p>
        </p:txBody>
      </p:sp>
    </p:spTree>
    <p:extLst>
      <p:ext uri="{BB962C8B-B14F-4D97-AF65-F5344CB8AC3E}">
        <p14:creationId xmlns:p14="http://schemas.microsoft.com/office/powerpoint/2010/main" val="2874878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48639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7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7008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b="1" i="0" dirty="0">
                <a:solidFill>
                  <a:srgbClr val="22302A"/>
                </a:solidFill>
                <a:latin typeface="+mj-lt"/>
              </a:rPr>
              <a:t>Kako aplikacija radi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DB3E5005-936E-454F-A7C3-F259D2735063}"/>
              </a:ext>
            </a:extLst>
          </p:cNvPr>
          <p:cNvSpPr/>
          <p:nvPr/>
        </p:nvSpPr>
        <p:spPr>
          <a:xfrm>
            <a:off x="548640" y="2150205"/>
            <a:ext cx="3603117" cy="2557589"/>
          </a:xfrm>
          <a:prstGeom prst="round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5">
            <a:extLst>
              <a:ext uri="{FF2B5EF4-FFF2-40B4-BE49-F238E27FC236}">
                <a16:creationId xmlns:a16="http://schemas.microsoft.com/office/drawing/2014/main" id="{6558EF56-263B-427E-AFF8-EAF73ACF7F0E}"/>
              </a:ext>
            </a:extLst>
          </p:cNvPr>
          <p:cNvSpPr txBox="1"/>
          <p:nvPr/>
        </p:nvSpPr>
        <p:spPr>
          <a:xfrm>
            <a:off x="1024128" y="2700306"/>
            <a:ext cx="346633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3200" b="1" i="0" dirty="0">
                <a:solidFill>
                  <a:srgbClr val="22302A"/>
                </a:solidFill>
                <a:latin typeface="+mj-lt"/>
              </a:rPr>
              <a:t>3. Simulacija</a:t>
            </a: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01C1795E-4E14-4191-AED7-E00D7279837F}"/>
              </a:ext>
            </a:extLst>
          </p:cNvPr>
          <p:cNvSpPr txBox="1"/>
          <p:nvPr/>
        </p:nvSpPr>
        <p:spPr>
          <a:xfrm>
            <a:off x="1082040" y="3349948"/>
            <a:ext cx="2614422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600" b="0" i="0" dirty="0" err="1">
                <a:solidFill>
                  <a:srgbClr val="6E7D74"/>
                </a:solidFill>
                <a:latin typeface="Calibri"/>
              </a:rPr>
              <a:t>Rothermel</a:t>
            </a:r>
            <a:r>
              <a:rPr lang="hr-HR" sz="1600" b="0" i="0" dirty="0">
                <a:solidFill>
                  <a:srgbClr val="6E7D74"/>
                </a:solidFill>
                <a:latin typeface="Calibri"/>
              </a:rPr>
              <a:t> model + stanični automat računaju širenje.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E3623ACA-26C0-48E1-9697-8A400826E15A}"/>
              </a:ext>
            </a:extLst>
          </p:cNvPr>
          <p:cNvSpPr/>
          <p:nvPr/>
        </p:nvSpPr>
        <p:spPr>
          <a:xfrm>
            <a:off x="5343525" y="1301115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7B1415BC-6002-4D9B-A319-C9FEADE32FF4}"/>
              </a:ext>
            </a:extLst>
          </p:cNvPr>
          <p:cNvSpPr/>
          <p:nvPr/>
        </p:nvSpPr>
        <p:spPr>
          <a:xfrm>
            <a:off x="5910453" y="1301115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9003B11C-6F04-4C64-9688-4A4E45E12D5C}"/>
              </a:ext>
            </a:extLst>
          </p:cNvPr>
          <p:cNvSpPr/>
          <p:nvPr/>
        </p:nvSpPr>
        <p:spPr>
          <a:xfrm>
            <a:off x="6477381" y="1301115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66937B7A-FB50-4C55-85AB-82B0D0BDD392}"/>
              </a:ext>
            </a:extLst>
          </p:cNvPr>
          <p:cNvSpPr/>
          <p:nvPr/>
        </p:nvSpPr>
        <p:spPr>
          <a:xfrm>
            <a:off x="7044309" y="1301115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9E19E8D8-0585-4A80-9D3B-77189878EA8E}"/>
              </a:ext>
            </a:extLst>
          </p:cNvPr>
          <p:cNvSpPr/>
          <p:nvPr/>
        </p:nvSpPr>
        <p:spPr>
          <a:xfrm>
            <a:off x="7611237" y="1301115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9FABA5A7-FD40-4B39-9276-F65E1BAC5477}"/>
              </a:ext>
            </a:extLst>
          </p:cNvPr>
          <p:cNvSpPr/>
          <p:nvPr/>
        </p:nvSpPr>
        <p:spPr>
          <a:xfrm>
            <a:off x="5343525" y="1868043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BFD93315-77C5-44E4-BDE9-74A012448FCF}"/>
              </a:ext>
            </a:extLst>
          </p:cNvPr>
          <p:cNvSpPr/>
          <p:nvPr/>
        </p:nvSpPr>
        <p:spPr>
          <a:xfrm>
            <a:off x="5910453" y="1868043"/>
            <a:ext cx="512064" cy="512064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10">
            <a:extLst>
              <a:ext uri="{FF2B5EF4-FFF2-40B4-BE49-F238E27FC236}">
                <a16:creationId xmlns:a16="http://schemas.microsoft.com/office/drawing/2014/main" id="{F594F37C-43E7-4FE9-AFA8-9CC297683077}"/>
              </a:ext>
            </a:extLst>
          </p:cNvPr>
          <p:cNvSpPr/>
          <p:nvPr/>
        </p:nvSpPr>
        <p:spPr>
          <a:xfrm>
            <a:off x="6477381" y="1868043"/>
            <a:ext cx="512064" cy="512064"/>
          </a:xfrm>
          <a:prstGeom prst="rect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55AE3353-5BA4-42E4-B296-AC245DC32B66}"/>
              </a:ext>
            </a:extLst>
          </p:cNvPr>
          <p:cNvSpPr/>
          <p:nvPr/>
        </p:nvSpPr>
        <p:spPr>
          <a:xfrm>
            <a:off x="7044309" y="1868043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12">
            <a:extLst>
              <a:ext uri="{FF2B5EF4-FFF2-40B4-BE49-F238E27FC236}">
                <a16:creationId xmlns:a16="http://schemas.microsoft.com/office/drawing/2014/main" id="{A3333DF6-5B59-45B4-8167-DF73610D262E}"/>
              </a:ext>
            </a:extLst>
          </p:cNvPr>
          <p:cNvSpPr/>
          <p:nvPr/>
        </p:nvSpPr>
        <p:spPr>
          <a:xfrm>
            <a:off x="7611237" y="1868043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13">
            <a:extLst>
              <a:ext uri="{FF2B5EF4-FFF2-40B4-BE49-F238E27FC236}">
                <a16:creationId xmlns:a16="http://schemas.microsoft.com/office/drawing/2014/main" id="{8B8739F7-C278-4EFF-AD7A-4EC8C052F754}"/>
              </a:ext>
            </a:extLst>
          </p:cNvPr>
          <p:cNvSpPr/>
          <p:nvPr/>
        </p:nvSpPr>
        <p:spPr>
          <a:xfrm>
            <a:off x="5343525" y="2434971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CC503836-9883-4010-B872-401211445980}"/>
              </a:ext>
            </a:extLst>
          </p:cNvPr>
          <p:cNvSpPr/>
          <p:nvPr/>
        </p:nvSpPr>
        <p:spPr>
          <a:xfrm>
            <a:off x="5910453" y="2434971"/>
            <a:ext cx="512064" cy="512064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15">
            <a:extLst>
              <a:ext uri="{FF2B5EF4-FFF2-40B4-BE49-F238E27FC236}">
                <a16:creationId xmlns:a16="http://schemas.microsoft.com/office/drawing/2014/main" id="{39F7CB85-B8CC-4D36-90FC-8C1153643361}"/>
              </a:ext>
            </a:extLst>
          </p:cNvPr>
          <p:cNvSpPr/>
          <p:nvPr/>
        </p:nvSpPr>
        <p:spPr>
          <a:xfrm>
            <a:off x="6477381" y="2434971"/>
            <a:ext cx="512064" cy="512064"/>
          </a:xfrm>
          <a:prstGeom prst="rect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16">
            <a:extLst>
              <a:ext uri="{FF2B5EF4-FFF2-40B4-BE49-F238E27FC236}">
                <a16:creationId xmlns:a16="http://schemas.microsoft.com/office/drawing/2014/main" id="{11E871A1-8FF2-4250-94F3-BA67F610B0B7}"/>
              </a:ext>
            </a:extLst>
          </p:cNvPr>
          <p:cNvSpPr/>
          <p:nvPr/>
        </p:nvSpPr>
        <p:spPr>
          <a:xfrm>
            <a:off x="7044309" y="2434971"/>
            <a:ext cx="512064" cy="512064"/>
          </a:xfrm>
          <a:prstGeom prst="rect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17">
            <a:extLst>
              <a:ext uri="{FF2B5EF4-FFF2-40B4-BE49-F238E27FC236}">
                <a16:creationId xmlns:a16="http://schemas.microsoft.com/office/drawing/2014/main" id="{F2E5DD62-0B1E-4D86-A371-ED2B4640B96B}"/>
              </a:ext>
            </a:extLst>
          </p:cNvPr>
          <p:cNvSpPr/>
          <p:nvPr/>
        </p:nvSpPr>
        <p:spPr>
          <a:xfrm>
            <a:off x="7611237" y="2434971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18">
            <a:extLst>
              <a:ext uri="{FF2B5EF4-FFF2-40B4-BE49-F238E27FC236}">
                <a16:creationId xmlns:a16="http://schemas.microsoft.com/office/drawing/2014/main" id="{995F137D-0653-4A61-9DB0-08C2B907FE7A}"/>
              </a:ext>
            </a:extLst>
          </p:cNvPr>
          <p:cNvSpPr/>
          <p:nvPr/>
        </p:nvSpPr>
        <p:spPr>
          <a:xfrm>
            <a:off x="5343525" y="3001899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19">
            <a:extLst>
              <a:ext uri="{FF2B5EF4-FFF2-40B4-BE49-F238E27FC236}">
                <a16:creationId xmlns:a16="http://schemas.microsoft.com/office/drawing/2014/main" id="{7FFA47AD-1E6B-40DA-BB47-3BA328578CCD}"/>
              </a:ext>
            </a:extLst>
          </p:cNvPr>
          <p:cNvSpPr/>
          <p:nvPr/>
        </p:nvSpPr>
        <p:spPr>
          <a:xfrm>
            <a:off x="5910453" y="3001899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20">
            <a:extLst>
              <a:ext uri="{FF2B5EF4-FFF2-40B4-BE49-F238E27FC236}">
                <a16:creationId xmlns:a16="http://schemas.microsoft.com/office/drawing/2014/main" id="{1A0051A7-7C4A-4A38-9798-4F505B91512A}"/>
              </a:ext>
            </a:extLst>
          </p:cNvPr>
          <p:cNvSpPr/>
          <p:nvPr/>
        </p:nvSpPr>
        <p:spPr>
          <a:xfrm>
            <a:off x="6477381" y="3001899"/>
            <a:ext cx="512064" cy="512064"/>
          </a:xfrm>
          <a:prstGeom prst="rect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21">
            <a:extLst>
              <a:ext uri="{FF2B5EF4-FFF2-40B4-BE49-F238E27FC236}">
                <a16:creationId xmlns:a16="http://schemas.microsoft.com/office/drawing/2014/main" id="{0F74B5E4-2188-4023-8622-2E7D4A3572CF}"/>
              </a:ext>
            </a:extLst>
          </p:cNvPr>
          <p:cNvSpPr/>
          <p:nvPr/>
        </p:nvSpPr>
        <p:spPr>
          <a:xfrm>
            <a:off x="7044309" y="3001899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B277F06C-C84C-41CE-ACEF-9AF99EF6F765}"/>
              </a:ext>
            </a:extLst>
          </p:cNvPr>
          <p:cNvSpPr/>
          <p:nvPr/>
        </p:nvSpPr>
        <p:spPr>
          <a:xfrm>
            <a:off x="7611237" y="3001899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23">
            <a:extLst>
              <a:ext uri="{FF2B5EF4-FFF2-40B4-BE49-F238E27FC236}">
                <a16:creationId xmlns:a16="http://schemas.microsoft.com/office/drawing/2014/main" id="{FE76B2CE-4A62-48C8-83D8-90BDA500D2EA}"/>
              </a:ext>
            </a:extLst>
          </p:cNvPr>
          <p:cNvSpPr/>
          <p:nvPr/>
        </p:nvSpPr>
        <p:spPr>
          <a:xfrm>
            <a:off x="5343525" y="3568827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24">
            <a:extLst>
              <a:ext uri="{FF2B5EF4-FFF2-40B4-BE49-F238E27FC236}">
                <a16:creationId xmlns:a16="http://schemas.microsoft.com/office/drawing/2014/main" id="{4329EB8A-B961-430A-800B-383B7E3A2ADB}"/>
              </a:ext>
            </a:extLst>
          </p:cNvPr>
          <p:cNvSpPr/>
          <p:nvPr/>
        </p:nvSpPr>
        <p:spPr>
          <a:xfrm>
            <a:off x="5910453" y="3568827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25">
            <a:extLst>
              <a:ext uri="{FF2B5EF4-FFF2-40B4-BE49-F238E27FC236}">
                <a16:creationId xmlns:a16="http://schemas.microsoft.com/office/drawing/2014/main" id="{DFC80C23-A8FD-4C7B-BAC6-A545560FBBA7}"/>
              </a:ext>
            </a:extLst>
          </p:cNvPr>
          <p:cNvSpPr/>
          <p:nvPr/>
        </p:nvSpPr>
        <p:spPr>
          <a:xfrm>
            <a:off x="6477381" y="3568827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26">
            <a:extLst>
              <a:ext uri="{FF2B5EF4-FFF2-40B4-BE49-F238E27FC236}">
                <a16:creationId xmlns:a16="http://schemas.microsoft.com/office/drawing/2014/main" id="{B3AE4510-DF92-4939-AE45-CC160D804EC6}"/>
              </a:ext>
            </a:extLst>
          </p:cNvPr>
          <p:cNvSpPr/>
          <p:nvPr/>
        </p:nvSpPr>
        <p:spPr>
          <a:xfrm>
            <a:off x="7044309" y="3568827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27">
            <a:extLst>
              <a:ext uri="{FF2B5EF4-FFF2-40B4-BE49-F238E27FC236}">
                <a16:creationId xmlns:a16="http://schemas.microsoft.com/office/drawing/2014/main" id="{2F88780A-C6A3-47D1-95C5-F9606F3F0BBF}"/>
              </a:ext>
            </a:extLst>
          </p:cNvPr>
          <p:cNvSpPr/>
          <p:nvPr/>
        </p:nvSpPr>
        <p:spPr>
          <a:xfrm>
            <a:off x="7611237" y="3568827"/>
            <a:ext cx="512064" cy="512064"/>
          </a:xfrm>
          <a:prstGeom prst="rect">
            <a:avLst/>
          </a:prstGeom>
          <a:solidFill>
            <a:srgbClr val="E7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29">
            <a:extLst>
              <a:ext uri="{FF2B5EF4-FFF2-40B4-BE49-F238E27FC236}">
                <a16:creationId xmlns:a16="http://schemas.microsoft.com/office/drawing/2014/main" id="{85AD3285-BD66-439D-AA2E-2D60EA990019}"/>
              </a:ext>
            </a:extLst>
          </p:cNvPr>
          <p:cNvSpPr/>
          <p:nvPr/>
        </p:nvSpPr>
        <p:spPr>
          <a:xfrm>
            <a:off x="8829675" y="1612747"/>
            <a:ext cx="274320" cy="274320"/>
          </a:xfrm>
          <a:prstGeom prst="rect">
            <a:avLst/>
          </a:prstGeom>
          <a:solidFill>
            <a:srgbClr val="E4610F"/>
          </a:solidFill>
          <a:ln w="9525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30">
            <a:extLst>
              <a:ext uri="{FF2B5EF4-FFF2-40B4-BE49-F238E27FC236}">
                <a16:creationId xmlns:a16="http://schemas.microsoft.com/office/drawing/2014/main" id="{8132423F-D296-4C17-B3A6-98EEFB122B20}"/>
              </a:ext>
            </a:extLst>
          </p:cNvPr>
          <p:cNvSpPr txBox="1"/>
          <p:nvPr/>
        </p:nvSpPr>
        <p:spPr>
          <a:xfrm>
            <a:off x="9195435" y="1567027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7D74"/>
                </a:solidFill>
                <a:latin typeface="Calibri"/>
              </a:rPr>
              <a:t>goruća</a:t>
            </a:r>
          </a:p>
        </p:txBody>
      </p:sp>
      <p:sp>
        <p:nvSpPr>
          <p:cNvPr id="54" name="Rectangle 31">
            <a:extLst>
              <a:ext uri="{FF2B5EF4-FFF2-40B4-BE49-F238E27FC236}">
                <a16:creationId xmlns:a16="http://schemas.microsoft.com/office/drawing/2014/main" id="{C7FF91AD-50AC-46FA-B6B7-535A4F8384EF}"/>
              </a:ext>
            </a:extLst>
          </p:cNvPr>
          <p:cNvSpPr/>
          <p:nvPr/>
        </p:nvSpPr>
        <p:spPr>
          <a:xfrm>
            <a:off x="8829675" y="2242947"/>
            <a:ext cx="274320" cy="274320"/>
          </a:xfrm>
          <a:prstGeom prst="rect">
            <a:avLst/>
          </a:prstGeom>
          <a:solidFill>
            <a:srgbClr val="3A3A3A"/>
          </a:solidFill>
          <a:ln w="9525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32">
            <a:extLst>
              <a:ext uri="{FF2B5EF4-FFF2-40B4-BE49-F238E27FC236}">
                <a16:creationId xmlns:a16="http://schemas.microsoft.com/office/drawing/2014/main" id="{8F6414C1-8B36-4B42-82B5-4C693E905001}"/>
              </a:ext>
            </a:extLst>
          </p:cNvPr>
          <p:cNvSpPr txBox="1"/>
          <p:nvPr/>
        </p:nvSpPr>
        <p:spPr>
          <a:xfrm>
            <a:off x="9195435" y="2197227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7D74"/>
                </a:solidFill>
                <a:latin typeface="Calibri"/>
              </a:rPr>
              <a:t>izgorjela</a:t>
            </a:r>
          </a:p>
        </p:txBody>
      </p:sp>
      <p:sp>
        <p:nvSpPr>
          <p:cNvPr id="56" name="Rectangle 33">
            <a:extLst>
              <a:ext uri="{FF2B5EF4-FFF2-40B4-BE49-F238E27FC236}">
                <a16:creationId xmlns:a16="http://schemas.microsoft.com/office/drawing/2014/main" id="{76FCD297-4BFB-442E-99B6-3E1290786AD3}"/>
              </a:ext>
            </a:extLst>
          </p:cNvPr>
          <p:cNvSpPr/>
          <p:nvPr/>
        </p:nvSpPr>
        <p:spPr>
          <a:xfrm>
            <a:off x="8829675" y="2873147"/>
            <a:ext cx="274320" cy="274320"/>
          </a:xfrm>
          <a:prstGeom prst="rect">
            <a:avLst/>
          </a:prstGeom>
          <a:solidFill>
            <a:srgbClr val="E7EFE3"/>
          </a:solidFill>
          <a:ln w="9525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34">
            <a:extLst>
              <a:ext uri="{FF2B5EF4-FFF2-40B4-BE49-F238E27FC236}">
                <a16:creationId xmlns:a16="http://schemas.microsoft.com/office/drawing/2014/main" id="{5C56DBA5-BF0D-478B-A761-155F71DA4F0C}"/>
              </a:ext>
            </a:extLst>
          </p:cNvPr>
          <p:cNvSpPr txBox="1"/>
          <p:nvPr/>
        </p:nvSpPr>
        <p:spPr>
          <a:xfrm>
            <a:off x="9195435" y="2827427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 err="1">
                <a:solidFill>
                  <a:srgbClr val="6E7D74"/>
                </a:solidFill>
                <a:latin typeface="Calibri"/>
              </a:rPr>
              <a:t>neizgorjela</a:t>
            </a:r>
            <a:endParaRPr sz="1250" b="0" i="0" dirty="0">
              <a:solidFill>
                <a:srgbClr val="6E7D74"/>
              </a:solidFill>
              <a:latin typeface="Calibri"/>
            </a:endParaRPr>
          </a:p>
        </p:txBody>
      </p:sp>
      <p:sp>
        <p:nvSpPr>
          <p:cNvPr id="89" name="TextBox 28">
            <a:extLst>
              <a:ext uri="{FF2B5EF4-FFF2-40B4-BE49-F238E27FC236}">
                <a16:creationId xmlns:a16="http://schemas.microsoft.com/office/drawing/2014/main" id="{38084ADD-42B6-42AA-8B84-E70EAD3E9EF2}"/>
              </a:ext>
            </a:extLst>
          </p:cNvPr>
          <p:cNvSpPr txBox="1"/>
          <p:nvPr/>
        </p:nvSpPr>
        <p:spPr>
          <a:xfrm>
            <a:off x="4798695" y="4526572"/>
            <a:ext cx="7223760" cy="136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lang="hr-HR" sz="1650" b="1" dirty="0">
                <a:latin typeface="Calibri"/>
              </a:rPr>
              <a:t>T</a:t>
            </a:r>
            <a:r>
              <a:rPr sz="1650" b="1" dirty="0" err="1">
                <a:solidFill>
                  <a:srgbClr val="22302A"/>
                </a:solidFill>
                <a:latin typeface="Calibri"/>
              </a:rPr>
              <a:t>eren</a:t>
            </a:r>
            <a:r>
              <a:rPr lang="hr-HR" sz="1650" b="1" dirty="0">
                <a:solidFill>
                  <a:srgbClr val="22302A"/>
                </a:solidFill>
                <a:latin typeface="Calibri"/>
              </a:rPr>
              <a:t> - </a:t>
            </a:r>
            <a:r>
              <a:rPr sz="1650" dirty="0" err="1">
                <a:solidFill>
                  <a:srgbClr val="22302A"/>
                </a:solidFill>
                <a:latin typeface="Calibri"/>
              </a:rPr>
              <a:t>pravokutn</a:t>
            </a:r>
            <a:r>
              <a:rPr lang="hr-HR" sz="1650" dirty="0">
                <a:solidFill>
                  <a:srgbClr val="22302A"/>
                </a:solidFill>
                <a:latin typeface="Calibri"/>
              </a:rPr>
              <a:t>a </a:t>
            </a:r>
            <a:r>
              <a:rPr sz="1650" dirty="0" err="1">
                <a:solidFill>
                  <a:srgbClr val="22302A"/>
                </a:solidFill>
                <a:latin typeface="Calibri"/>
              </a:rPr>
              <a:t>rešetk</a:t>
            </a:r>
            <a:r>
              <a:rPr lang="hr-HR" sz="1650" dirty="0">
                <a:solidFill>
                  <a:srgbClr val="22302A"/>
                </a:solidFill>
                <a:latin typeface="Calibri"/>
              </a:rPr>
              <a:t>a </a:t>
            </a:r>
            <a:r>
              <a:rPr sz="1650" dirty="0" err="1">
                <a:solidFill>
                  <a:srgbClr val="22302A"/>
                </a:solidFill>
                <a:latin typeface="Calibri"/>
              </a:rPr>
              <a:t>ćelija</a:t>
            </a:r>
            <a:endParaRPr sz="1650" dirty="0">
              <a:solidFill>
                <a:srgbClr val="22302A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lang="hr-HR" sz="1650" b="1" dirty="0">
                <a:solidFill>
                  <a:srgbClr val="22302A"/>
                </a:solidFill>
                <a:latin typeface="Calibri"/>
              </a:rPr>
              <a:t>Stanja ćelija - </a:t>
            </a:r>
            <a:r>
              <a:rPr lang="hr-HR" sz="1650" dirty="0" err="1">
                <a:solidFill>
                  <a:srgbClr val="22302A"/>
                </a:solidFill>
                <a:latin typeface="Calibri"/>
              </a:rPr>
              <a:t>neizgorjelo</a:t>
            </a:r>
            <a:r>
              <a:rPr lang="hr-HR" sz="1650" dirty="0">
                <a:solidFill>
                  <a:srgbClr val="22302A"/>
                </a:solidFill>
                <a:latin typeface="Calibri"/>
              </a:rPr>
              <a:t>, goruće i izgorjelo</a:t>
            </a:r>
            <a:endParaRPr sz="1650" dirty="0">
              <a:solidFill>
                <a:srgbClr val="22302A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lang="hr-HR" sz="1650" b="1" dirty="0">
                <a:solidFill>
                  <a:srgbClr val="22302A"/>
                </a:solidFill>
                <a:latin typeface="Calibri"/>
              </a:rPr>
              <a:t>Svaki korak - </a:t>
            </a:r>
            <a:r>
              <a:rPr lang="hr-HR" sz="1650" dirty="0">
                <a:solidFill>
                  <a:srgbClr val="22302A"/>
                </a:solidFill>
                <a:latin typeface="Calibri"/>
              </a:rPr>
              <a:t>goruća ćelija pokušava zapaliti svih 8 susjeda</a:t>
            </a:r>
            <a:endParaRPr sz="1650" dirty="0">
              <a:solidFill>
                <a:srgbClr val="22302A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5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sz="1650" b="1" dirty="0" err="1">
                <a:solidFill>
                  <a:srgbClr val="22302A"/>
                </a:solidFill>
                <a:latin typeface="Calibri"/>
              </a:rPr>
              <a:t>Vjerojatnost</a:t>
            </a:r>
            <a:r>
              <a:rPr sz="1650" b="1" dirty="0">
                <a:solidFill>
                  <a:srgbClr val="22302A"/>
                </a:solidFill>
                <a:latin typeface="Calibri"/>
              </a:rPr>
              <a:t> </a:t>
            </a:r>
            <a:r>
              <a:rPr sz="1650" b="1" dirty="0" err="1">
                <a:solidFill>
                  <a:srgbClr val="22302A"/>
                </a:solidFill>
                <a:latin typeface="Calibri"/>
              </a:rPr>
              <a:t>paljenja</a:t>
            </a:r>
            <a:r>
              <a:rPr sz="1650" dirty="0">
                <a:solidFill>
                  <a:srgbClr val="22302A"/>
                </a:solidFill>
                <a:latin typeface="Calibri"/>
              </a:rPr>
              <a:t> = </a:t>
            </a:r>
            <a:r>
              <a:rPr sz="1650" dirty="0" err="1">
                <a:solidFill>
                  <a:srgbClr val="22302A"/>
                </a:solidFill>
                <a:latin typeface="Calibri"/>
              </a:rPr>
              <a:t>brzina</a:t>
            </a:r>
            <a:r>
              <a:rPr sz="1650" dirty="0">
                <a:solidFill>
                  <a:srgbClr val="22302A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2302A"/>
                </a:solidFill>
                <a:latin typeface="Calibri"/>
              </a:rPr>
              <a:t>iz</a:t>
            </a:r>
            <a:r>
              <a:rPr sz="1650" dirty="0">
                <a:solidFill>
                  <a:srgbClr val="22302A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2302A"/>
                </a:solidFill>
                <a:latin typeface="Calibri"/>
              </a:rPr>
              <a:t>Rothermela</a:t>
            </a:r>
            <a:r>
              <a:rPr sz="1650" dirty="0">
                <a:solidFill>
                  <a:srgbClr val="22302A"/>
                </a:solidFill>
                <a:latin typeface="Calibri"/>
              </a:rPr>
              <a:t> × </a:t>
            </a:r>
            <a:r>
              <a:rPr sz="1650" dirty="0" err="1">
                <a:solidFill>
                  <a:srgbClr val="22302A"/>
                </a:solidFill>
                <a:latin typeface="Calibri"/>
              </a:rPr>
              <a:t>trajanje</a:t>
            </a:r>
            <a:r>
              <a:rPr sz="1650" dirty="0">
                <a:solidFill>
                  <a:srgbClr val="22302A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2302A"/>
                </a:solidFill>
                <a:latin typeface="Calibri"/>
              </a:rPr>
              <a:t>koraka</a:t>
            </a:r>
            <a:r>
              <a:rPr sz="1650" dirty="0">
                <a:solidFill>
                  <a:srgbClr val="22302A"/>
                </a:solidFill>
                <a:latin typeface="Calibri"/>
              </a:rPr>
              <a:t> ÷ </a:t>
            </a:r>
            <a:r>
              <a:rPr sz="1650" dirty="0" err="1">
                <a:solidFill>
                  <a:srgbClr val="22302A"/>
                </a:solidFill>
                <a:latin typeface="Calibri"/>
              </a:rPr>
              <a:t>veličina</a:t>
            </a:r>
            <a:r>
              <a:rPr sz="1650" dirty="0">
                <a:solidFill>
                  <a:srgbClr val="22302A"/>
                </a:solidFill>
                <a:latin typeface="Calibri"/>
              </a:rPr>
              <a:t> </a:t>
            </a:r>
            <a:r>
              <a:rPr sz="1650" dirty="0" err="1">
                <a:solidFill>
                  <a:srgbClr val="22302A"/>
                </a:solidFill>
                <a:latin typeface="Calibri"/>
              </a:rPr>
              <a:t>ćelije</a:t>
            </a:r>
            <a:r>
              <a:rPr sz="1650" dirty="0">
                <a:solidFill>
                  <a:srgbClr val="22302A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5851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548639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7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7008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b="1" i="0" dirty="0">
                <a:solidFill>
                  <a:srgbClr val="22302A"/>
                </a:solidFill>
                <a:latin typeface="+mj-lt"/>
              </a:rPr>
              <a:t>Kako aplikacija radi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25" name="Rounded Rectangle 3">
            <a:extLst>
              <a:ext uri="{FF2B5EF4-FFF2-40B4-BE49-F238E27FC236}">
                <a16:creationId xmlns:a16="http://schemas.microsoft.com/office/drawing/2014/main" id="{86419DC4-2850-457A-80E1-CF7CF342C807}"/>
              </a:ext>
            </a:extLst>
          </p:cNvPr>
          <p:cNvSpPr/>
          <p:nvPr/>
        </p:nvSpPr>
        <p:spPr>
          <a:xfrm>
            <a:off x="548640" y="2150205"/>
            <a:ext cx="3941826" cy="2557589"/>
          </a:xfrm>
          <a:prstGeom prst="round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562D9F3-DCBC-42C5-BACF-564E8FAA051B}"/>
              </a:ext>
            </a:extLst>
          </p:cNvPr>
          <p:cNvSpPr txBox="1"/>
          <p:nvPr/>
        </p:nvSpPr>
        <p:spPr>
          <a:xfrm>
            <a:off x="990982" y="2700306"/>
            <a:ext cx="349948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3200" b="1" i="0" dirty="0">
                <a:solidFill>
                  <a:srgbClr val="22302A"/>
                </a:solidFill>
                <a:latin typeface="+mj-lt"/>
              </a:rPr>
              <a:t>4. </a:t>
            </a:r>
            <a:r>
              <a:rPr lang="hr-HR" sz="3200" b="1" dirty="0">
                <a:solidFill>
                  <a:srgbClr val="22302A"/>
                </a:solidFill>
                <a:latin typeface="+mj-lt"/>
              </a:rPr>
              <a:t>Vizualizacija</a:t>
            </a:r>
            <a:endParaRPr sz="32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81804941-6020-4237-9067-A9EDD7BDA5A8}"/>
              </a:ext>
            </a:extLst>
          </p:cNvPr>
          <p:cNvSpPr txBox="1"/>
          <p:nvPr/>
        </p:nvSpPr>
        <p:spPr>
          <a:xfrm>
            <a:off x="1082040" y="3349948"/>
            <a:ext cx="2614422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1600" b="0" i="0" dirty="0">
                <a:solidFill>
                  <a:srgbClr val="48524C"/>
                </a:solidFill>
                <a:latin typeface="Calibri"/>
              </a:rPr>
              <a:t>Požar se u stvarnom vremenu iscrtava preko karte.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47D99683-CE31-4E92-A716-22C533186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579" y="1081157"/>
            <a:ext cx="1959455" cy="1857564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E91F4EA1-6C84-4968-876E-F5F3AFC0C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345" y="1096833"/>
            <a:ext cx="1951618" cy="1841888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A71F5ED6-493B-440D-A523-95635063C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2274" y="1159535"/>
            <a:ext cx="1959455" cy="1779186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A707A767-7C25-4A58-B285-BA55DE1C1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4306" y="3833095"/>
            <a:ext cx="1951618" cy="1857564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2EBECC30-64BC-43CE-8AF0-5B736C407F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928" y="3805663"/>
            <a:ext cx="1959456" cy="1912429"/>
          </a:xfrm>
          <a:prstGeom prst="rect">
            <a:avLst/>
          </a:prstGeom>
        </p:spPr>
      </p:pic>
      <p:sp>
        <p:nvSpPr>
          <p:cNvPr id="14" name="TekstniOkvir 13">
            <a:extLst>
              <a:ext uri="{FF2B5EF4-FFF2-40B4-BE49-F238E27FC236}">
                <a16:creationId xmlns:a16="http://schemas.microsoft.com/office/drawing/2014/main" id="{941FAF8D-62A3-4E44-B00B-17C976F02B42}"/>
              </a:ext>
            </a:extLst>
          </p:cNvPr>
          <p:cNvSpPr txBox="1"/>
          <p:nvPr/>
        </p:nvSpPr>
        <p:spPr>
          <a:xfrm>
            <a:off x="5147081" y="3106869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t: 0h 10min</a:t>
            </a:r>
          </a:p>
        </p:txBody>
      </p:sp>
      <p:sp>
        <p:nvSpPr>
          <p:cNvPr id="19" name="TekstniOkvir 18">
            <a:extLst>
              <a:ext uri="{FF2B5EF4-FFF2-40B4-BE49-F238E27FC236}">
                <a16:creationId xmlns:a16="http://schemas.microsoft.com/office/drawing/2014/main" id="{B0014966-5D00-4381-A2FB-DE42F59D5831}"/>
              </a:ext>
            </a:extLst>
          </p:cNvPr>
          <p:cNvSpPr txBox="1"/>
          <p:nvPr/>
        </p:nvSpPr>
        <p:spPr>
          <a:xfrm>
            <a:off x="7557981" y="3103143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t: 0h 25min</a:t>
            </a:r>
          </a:p>
        </p:txBody>
      </p:sp>
      <p:sp>
        <p:nvSpPr>
          <p:cNvPr id="20" name="TekstniOkvir 19">
            <a:extLst>
              <a:ext uri="{FF2B5EF4-FFF2-40B4-BE49-F238E27FC236}">
                <a16:creationId xmlns:a16="http://schemas.microsoft.com/office/drawing/2014/main" id="{09DBBD48-D3DA-4AD5-BCBA-BB8EA0FB3B09}"/>
              </a:ext>
            </a:extLst>
          </p:cNvPr>
          <p:cNvSpPr txBox="1"/>
          <p:nvPr/>
        </p:nvSpPr>
        <p:spPr>
          <a:xfrm>
            <a:off x="9954776" y="3110949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t: 0h 45min</a:t>
            </a:r>
          </a:p>
        </p:txBody>
      </p:sp>
      <p:sp>
        <p:nvSpPr>
          <p:cNvPr id="21" name="TekstniOkvir 20">
            <a:extLst>
              <a:ext uri="{FF2B5EF4-FFF2-40B4-BE49-F238E27FC236}">
                <a16:creationId xmlns:a16="http://schemas.microsoft.com/office/drawing/2014/main" id="{CD076751-5A23-4B40-8E55-CBDD589094A4}"/>
              </a:ext>
            </a:extLst>
          </p:cNvPr>
          <p:cNvSpPr txBox="1"/>
          <p:nvPr/>
        </p:nvSpPr>
        <p:spPr>
          <a:xfrm>
            <a:off x="6122890" y="5851001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t: 1h 15min</a:t>
            </a:r>
          </a:p>
        </p:txBody>
      </p:sp>
      <p:sp>
        <p:nvSpPr>
          <p:cNvPr id="22" name="TekstniOkvir 21">
            <a:extLst>
              <a:ext uri="{FF2B5EF4-FFF2-40B4-BE49-F238E27FC236}">
                <a16:creationId xmlns:a16="http://schemas.microsoft.com/office/drawing/2014/main" id="{3087765A-8A86-4685-8328-FB7F4E0DA757}"/>
              </a:ext>
            </a:extLst>
          </p:cNvPr>
          <p:cNvSpPr txBox="1"/>
          <p:nvPr/>
        </p:nvSpPr>
        <p:spPr>
          <a:xfrm>
            <a:off x="8872431" y="5851001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t: 1h 40min</a:t>
            </a:r>
          </a:p>
        </p:txBody>
      </p:sp>
    </p:spTree>
    <p:extLst>
      <p:ext uri="{BB962C8B-B14F-4D97-AF65-F5344CB8AC3E}">
        <p14:creationId xmlns:p14="http://schemas.microsoft.com/office/powerpoint/2010/main" val="4230431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36979" y="548640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8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7008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22302A"/>
                </a:solidFill>
                <a:latin typeface="+mj-lt"/>
              </a:rPr>
              <a:t>Rezultat</a:t>
            </a:r>
            <a:r>
              <a:rPr lang="hr-HR" sz="2800" b="1" dirty="0">
                <a:solidFill>
                  <a:srgbClr val="22302A"/>
                </a:solidFill>
                <a:latin typeface="+mj-lt"/>
              </a:rPr>
              <a:t>i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: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utjecaj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vjetra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67682" y="1832610"/>
            <a:ext cx="4023360" cy="4023360"/>
          </a:xfrm>
          <a:prstGeom prst="roundRect">
            <a:avLst/>
          </a:prstGeom>
          <a:solidFill>
            <a:srgbClr val="1C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 dirty="0" err="1">
                <a:solidFill>
                  <a:srgbClr val="F3902F"/>
                </a:solidFill>
                <a:latin typeface="Calibri"/>
              </a:rPr>
              <a:t>Vjetar</a:t>
            </a:r>
            <a:r>
              <a:rPr sz="1700" b="1" i="0" dirty="0">
                <a:solidFill>
                  <a:srgbClr val="F3902F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F3902F"/>
                </a:solidFill>
                <a:latin typeface="Calibri"/>
              </a:rPr>
              <a:t>iz</a:t>
            </a:r>
            <a:r>
              <a:rPr sz="1700" b="1" i="0" dirty="0">
                <a:solidFill>
                  <a:srgbClr val="F3902F"/>
                </a:solidFill>
                <a:latin typeface="Calibri"/>
              </a:rPr>
              <a:t> JZ (232°)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 i="0" dirty="0" err="1">
                <a:solidFill>
                  <a:srgbClr val="E4EAE2"/>
                </a:solidFill>
                <a:latin typeface="Calibri"/>
              </a:rPr>
              <a:t>Brzina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širenja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najveća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je u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smjeru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u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kojem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vjetar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puše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(SI), a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gotovo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nula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u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suprotnom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(JZ).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07B32B60-3D63-4F0C-8967-3B25FE4A2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21" y="1571436"/>
            <a:ext cx="1959455" cy="1857564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41335A58-F016-4036-A1F2-0D3BD1FB4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987" y="1587112"/>
            <a:ext cx="1951618" cy="1841888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EF2C8876-AB18-4121-A2A4-DB668C541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916" y="1649814"/>
            <a:ext cx="1959455" cy="1779186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C117998A-6034-4765-8945-DACE3AAB6A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1948" y="4323374"/>
            <a:ext cx="1951618" cy="1857564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2D8756A1-53E6-4D69-B65F-C76598FF00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7570" y="4295942"/>
            <a:ext cx="1959456" cy="1912429"/>
          </a:xfrm>
          <a:prstGeom prst="rect">
            <a:avLst/>
          </a:prstGeom>
        </p:spPr>
      </p:pic>
      <p:sp>
        <p:nvSpPr>
          <p:cNvPr id="12" name="TekstniOkvir 11">
            <a:extLst>
              <a:ext uri="{FF2B5EF4-FFF2-40B4-BE49-F238E27FC236}">
                <a16:creationId xmlns:a16="http://schemas.microsoft.com/office/drawing/2014/main" id="{57512F47-BF6A-452C-ADF2-8B6D60243683}"/>
              </a:ext>
            </a:extLst>
          </p:cNvPr>
          <p:cNvSpPr txBox="1"/>
          <p:nvPr/>
        </p:nvSpPr>
        <p:spPr>
          <a:xfrm>
            <a:off x="874723" y="3597148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t: 0h 10min</a:t>
            </a:r>
          </a:p>
        </p:txBody>
      </p:sp>
      <p:sp>
        <p:nvSpPr>
          <p:cNvPr id="13" name="TekstniOkvir 12">
            <a:extLst>
              <a:ext uri="{FF2B5EF4-FFF2-40B4-BE49-F238E27FC236}">
                <a16:creationId xmlns:a16="http://schemas.microsoft.com/office/drawing/2014/main" id="{75615B25-CE24-497F-BAA7-D4496E56A266}"/>
              </a:ext>
            </a:extLst>
          </p:cNvPr>
          <p:cNvSpPr txBox="1"/>
          <p:nvPr/>
        </p:nvSpPr>
        <p:spPr>
          <a:xfrm>
            <a:off x="3285623" y="3593422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t: 0h 25min</a:t>
            </a:r>
          </a:p>
        </p:txBody>
      </p:sp>
      <p:sp>
        <p:nvSpPr>
          <p:cNvPr id="14" name="TekstniOkvir 13">
            <a:extLst>
              <a:ext uri="{FF2B5EF4-FFF2-40B4-BE49-F238E27FC236}">
                <a16:creationId xmlns:a16="http://schemas.microsoft.com/office/drawing/2014/main" id="{12617741-825A-461E-BB7E-922DCFB639CD}"/>
              </a:ext>
            </a:extLst>
          </p:cNvPr>
          <p:cNvSpPr txBox="1"/>
          <p:nvPr/>
        </p:nvSpPr>
        <p:spPr>
          <a:xfrm>
            <a:off x="5682418" y="3601228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t: 0h 45min</a:t>
            </a:r>
          </a:p>
        </p:txBody>
      </p:sp>
      <p:sp>
        <p:nvSpPr>
          <p:cNvPr id="15" name="TekstniOkvir 14">
            <a:extLst>
              <a:ext uri="{FF2B5EF4-FFF2-40B4-BE49-F238E27FC236}">
                <a16:creationId xmlns:a16="http://schemas.microsoft.com/office/drawing/2014/main" id="{7F040546-BE6E-46CE-917D-6CC65B575B4E}"/>
              </a:ext>
            </a:extLst>
          </p:cNvPr>
          <p:cNvSpPr txBox="1"/>
          <p:nvPr/>
        </p:nvSpPr>
        <p:spPr>
          <a:xfrm>
            <a:off x="1850532" y="6341280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t: 1h 15min</a:t>
            </a:r>
          </a:p>
        </p:txBody>
      </p:sp>
      <p:sp>
        <p:nvSpPr>
          <p:cNvPr id="16" name="TekstniOkvir 15">
            <a:extLst>
              <a:ext uri="{FF2B5EF4-FFF2-40B4-BE49-F238E27FC236}">
                <a16:creationId xmlns:a16="http://schemas.microsoft.com/office/drawing/2014/main" id="{75D15DF0-571D-436C-A96B-02480C39E041}"/>
              </a:ext>
            </a:extLst>
          </p:cNvPr>
          <p:cNvSpPr txBox="1"/>
          <p:nvPr/>
        </p:nvSpPr>
        <p:spPr>
          <a:xfrm>
            <a:off x="4600073" y="6341280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t: 1h 40min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7483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b="1" i="0" dirty="0">
                <a:solidFill>
                  <a:srgbClr val="22302A"/>
                </a:solidFill>
                <a:latin typeface="+mj-lt"/>
              </a:rPr>
              <a:t>Rezultati: utjecaj vjetra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E1CCAA6-2C2D-4EDD-9FF7-C0FA4EC60031}"/>
              </a:ext>
            </a:extLst>
          </p:cNvPr>
          <p:cNvSpPr/>
          <p:nvPr/>
        </p:nvSpPr>
        <p:spPr>
          <a:xfrm>
            <a:off x="7767682" y="1832610"/>
            <a:ext cx="4023360" cy="4023360"/>
          </a:xfrm>
          <a:prstGeom prst="roundRect">
            <a:avLst/>
          </a:prstGeom>
          <a:solidFill>
            <a:srgbClr val="1C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 dirty="0" err="1">
                <a:solidFill>
                  <a:srgbClr val="F3902F"/>
                </a:solidFill>
                <a:latin typeface="Calibri"/>
              </a:rPr>
              <a:t>Vjetar</a:t>
            </a:r>
            <a:r>
              <a:rPr sz="1700" b="1" i="0" dirty="0">
                <a:solidFill>
                  <a:srgbClr val="F3902F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F3902F"/>
                </a:solidFill>
                <a:latin typeface="Calibri"/>
              </a:rPr>
              <a:t>iz</a:t>
            </a:r>
            <a:r>
              <a:rPr sz="1700" b="1" i="0" dirty="0">
                <a:solidFill>
                  <a:srgbClr val="F3902F"/>
                </a:solidFill>
                <a:latin typeface="Calibri"/>
              </a:rPr>
              <a:t> JZ (232°)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 i="0" dirty="0" err="1">
                <a:solidFill>
                  <a:srgbClr val="E4EAE2"/>
                </a:solidFill>
                <a:latin typeface="Calibri"/>
              </a:rPr>
              <a:t>Brzina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širenja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najveća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je u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smjeru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u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kojem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vjetar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puše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(SI), a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gotovo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nula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u </a:t>
            </a:r>
            <a:r>
              <a:rPr sz="1550" b="0" i="0" dirty="0" err="1">
                <a:solidFill>
                  <a:srgbClr val="E4EAE2"/>
                </a:solidFill>
                <a:latin typeface="Calibri"/>
              </a:rPr>
              <a:t>suprotnom</a:t>
            </a:r>
            <a:r>
              <a:rPr sz="1550" b="0" i="0" dirty="0">
                <a:solidFill>
                  <a:srgbClr val="E4EAE2"/>
                </a:solidFill>
                <a:latin typeface="Calibri"/>
              </a:rPr>
              <a:t> (JZ).</a:t>
            </a:r>
          </a:p>
        </p:txBody>
      </p:sp>
      <p:sp>
        <p:nvSpPr>
          <p:cNvPr id="7" name="Oval 1">
            <a:extLst>
              <a:ext uri="{FF2B5EF4-FFF2-40B4-BE49-F238E27FC236}">
                <a16:creationId xmlns:a16="http://schemas.microsoft.com/office/drawing/2014/main" id="{80262931-74C1-4C1C-A475-1484D2368AC0}"/>
              </a:ext>
            </a:extLst>
          </p:cNvPr>
          <p:cNvSpPr/>
          <p:nvPr/>
        </p:nvSpPr>
        <p:spPr>
          <a:xfrm>
            <a:off x="636979" y="548640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8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68583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60832" y="523617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8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07008" y="55028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22302A"/>
                </a:solidFill>
                <a:latin typeface="+mj-lt"/>
              </a:rPr>
              <a:t>Rezultat</a:t>
            </a:r>
            <a:r>
              <a:rPr lang="hr-HR" sz="2800" b="1" dirty="0">
                <a:solidFill>
                  <a:srgbClr val="22302A"/>
                </a:solidFill>
                <a:latin typeface="+mj-lt"/>
              </a:rPr>
              <a:t>i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: tip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goriva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i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prepreke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2302A"/>
                </a:solidFill>
                <a:latin typeface="Calibri"/>
              </a:rPr>
              <a:t>Po teoriji, goriva se bitno razlikuju po brzini i intenzitetu gorenja: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10916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139696"/>
            <a:ext cx="402336" cy="402336"/>
          </a:xfrm>
          <a:prstGeom prst="rect">
            <a:avLst/>
          </a:prstGeom>
          <a:solidFill>
            <a:srgbClr val="4E9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2229295"/>
            <a:ext cx="996696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50" b="1" dirty="0" err="1">
                <a:solidFill>
                  <a:srgbClr val="22302A"/>
                </a:solidFill>
                <a:latin typeface="Calibri"/>
              </a:rPr>
              <a:t>Makija</a:t>
            </a:r>
            <a:r>
              <a:rPr sz="1450" b="1" dirty="0">
                <a:solidFill>
                  <a:srgbClr val="22302A"/>
                </a:solidFill>
                <a:latin typeface="Calibri"/>
              </a:rPr>
              <a:t> / </a:t>
            </a:r>
            <a:r>
              <a:rPr sz="1450" b="1" dirty="0" err="1">
                <a:solidFill>
                  <a:srgbClr val="22302A"/>
                </a:solidFill>
                <a:latin typeface="Calibri"/>
              </a:rPr>
              <a:t>grmlje</a:t>
            </a:r>
            <a:r>
              <a:rPr sz="1450" b="1" dirty="0">
                <a:solidFill>
                  <a:srgbClr val="22302A"/>
                </a:solidFill>
                <a:latin typeface="Calibri"/>
              </a:rPr>
              <a:t> (SH5)  </a:t>
            </a:r>
            <a:r>
              <a:rPr lang="hr-HR" sz="1450" b="1" dirty="0">
                <a:solidFill>
                  <a:srgbClr val="22302A"/>
                </a:solidFill>
                <a:latin typeface="Calibri"/>
              </a:rPr>
              <a:t>-</a:t>
            </a:r>
            <a:r>
              <a:rPr sz="1450" b="1" dirty="0">
                <a:solidFill>
                  <a:srgbClr val="22302A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najbrže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i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intenzivno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lang="hr-HR" sz="1300" dirty="0">
                <a:solidFill>
                  <a:srgbClr val="6E7D74"/>
                </a:solidFill>
                <a:latin typeface="Calibri"/>
              </a:rPr>
              <a:t>-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rahlo</a:t>
            </a:r>
            <a:r>
              <a:rPr sz="1300" dirty="0">
                <a:solidFill>
                  <a:srgbClr val="6E7D74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prozračno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gorivo</a:t>
            </a:r>
            <a:endParaRPr sz="1300" dirty="0">
              <a:solidFill>
                <a:srgbClr val="6E7D74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807208"/>
            <a:ext cx="110916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980944"/>
            <a:ext cx="402336" cy="402336"/>
          </a:xfrm>
          <a:prstGeom prst="rect">
            <a:avLst/>
          </a:prstGeom>
          <a:solidFill>
            <a:srgbClr val="A7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3070543"/>
            <a:ext cx="996696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50" b="1" dirty="0" err="1">
                <a:solidFill>
                  <a:srgbClr val="22302A"/>
                </a:solidFill>
                <a:latin typeface="Calibri"/>
              </a:rPr>
              <a:t>Trava</a:t>
            </a:r>
            <a:r>
              <a:rPr sz="1450" b="1" dirty="0">
                <a:solidFill>
                  <a:srgbClr val="22302A"/>
                </a:solidFill>
                <a:latin typeface="Calibri"/>
              </a:rPr>
              <a:t> (GR)  </a:t>
            </a:r>
            <a:r>
              <a:rPr lang="hr-HR" sz="1450" b="1" dirty="0">
                <a:solidFill>
                  <a:srgbClr val="22302A"/>
                </a:solidFill>
                <a:latin typeface="Calibri"/>
              </a:rPr>
              <a:t>-</a:t>
            </a:r>
            <a:r>
              <a:rPr sz="1450" b="1" dirty="0">
                <a:solidFill>
                  <a:srgbClr val="22302A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brzo</a:t>
            </a:r>
            <a:r>
              <a:rPr sz="1300" dirty="0">
                <a:solidFill>
                  <a:srgbClr val="6E7D74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ali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kratkotrajno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i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niskog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intenziteta</a:t>
            </a:r>
            <a:endParaRPr sz="1300" dirty="0">
              <a:solidFill>
                <a:srgbClr val="6E7D74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648456"/>
            <a:ext cx="110916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822191"/>
            <a:ext cx="402336" cy="402336"/>
          </a:xfrm>
          <a:prstGeom prst="rect">
            <a:avLst/>
          </a:prstGeom>
          <a:solidFill>
            <a:srgbClr val="2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3911790"/>
            <a:ext cx="996696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50" b="1" dirty="0" err="1">
                <a:solidFill>
                  <a:srgbClr val="22302A"/>
                </a:solidFill>
                <a:latin typeface="Calibri"/>
              </a:rPr>
              <a:t>Gusta</a:t>
            </a:r>
            <a:r>
              <a:rPr sz="1450" b="1" dirty="0">
                <a:solidFill>
                  <a:srgbClr val="22302A"/>
                </a:solidFill>
                <a:latin typeface="Calibri"/>
              </a:rPr>
              <a:t> </a:t>
            </a:r>
            <a:r>
              <a:rPr sz="1450" b="1" dirty="0" err="1">
                <a:solidFill>
                  <a:srgbClr val="22302A"/>
                </a:solidFill>
                <a:latin typeface="Calibri"/>
              </a:rPr>
              <a:t>šuma</a:t>
            </a:r>
            <a:r>
              <a:rPr sz="1450" b="1" dirty="0">
                <a:solidFill>
                  <a:srgbClr val="22302A"/>
                </a:solidFill>
                <a:latin typeface="Calibri"/>
              </a:rPr>
              <a:t> (TL5)  </a:t>
            </a:r>
            <a:r>
              <a:rPr lang="hr-HR" sz="1450" b="1" dirty="0">
                <a:solidFill>
                  <a:srgbClr val="22302A"/>
                </a:solidFill>
                <a:latin typeface="Calibri"/>
              </a:rPr>
              <a:t>-</a:t>
            </a:r>
            <a:r>
              <a:rPr sz="1450" b="1" dirty="0">
                <a:solidFill>
                  <a:srgbClr val="22302A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sporo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lang="hr-HR" sz="1300" dirty="0">
                <a:solidFill>
                  <a:srgbClr val="6E7D74"/>
                </a:solidFill>
                <a:latin typeface="Calibri"/>
              </a:rPr>
              <a:t>-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zbijena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prostirka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se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guši</a:t>
            </a:r>
            <a:r>
              <a:rPr sz="1300" dirty="0">
                <a:solidFill>
                  <a:srgbClr val="6E7D74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tinja</a:t>
            </a:r>
            <a:endParaRPr sz="1300" dirty="0">
              <a:solidFill>
                <a:srgbClr val="6E7D74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4489704"/>
            <a:ext cx="1109167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4663440"/>
            <a:ext cx="402336" cy="402336"/>
          </a:xfrm>
          <a:prstGeom prst="rect">
            <a:avLst/>
          </a:prstGeom>
          <a:solidFill>
            <a:srgbClr val="9AA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4753039"/>
            <a:ext cx="996696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50" b="1" dirty="0" err="1">
                <a:solidFill>
                  <a:srgbClr val="22302A"/>
                </a:solidFill>
                <a:latin typeface="Calibri"/>
              </a:rPr>
              <a:t>Negorivo</a:t>
            </a:r>
            <a:r>
              <a:rPr sz="1450" b="1" dirty="0">
                <a:solidFill>
                  <a:srgbClr val="22302A"/>
                </a:solidFill>
                <a:latin typeface="Calibri"/>
              </a:rPr>
              <a:t> (NB1)  </a:t>
            </a:r>
            <a:r>
              <a:rPr lang="hr-HR" sz="1450" b="1" dirty="0">
                <a:solidFill>
                  <a:srgbClr val="22302A"/>
                </a:solidFill>
                <a:latin typeface="Calibri"/>
              </a:rPr>
              <a:t>-</a:t>
            </a:r>
            <a:r>
              <a:rPr sz="1450" b="1" dirty="0">
                <a:solidFill>
                  <a:srgbClr val="22302A"/>
                </a:solidFill>
                <a:latin typeface="Calibri"/>
              </a:rPr>
              <a:t> 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ceste</a:t>
            </a:r>
            <a:r>
              <a:rPr sz="1300" dirty="0">
                <a:solidFill>
                  <a:srgbClr val="6E7D74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voda</a:t>
            </a:r>
            <a:r>
              <a:rPr sz="1300" dirty="0">
                <a:solidFill>
                  <a:srgbClr val="6E7D74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naselja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lang="hr-HR" sz="1300" dirty="0">
                <a:solidFill>
                  <a:srgbClr val="6E7D74"/>
                </a:solidFill>
                <a:latin typeface="Calibri"/>
              </a:rPr>
              <a:t>-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potpuno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zaustavljaju</a:t>
            </a:r>
            <a:r>
              <a:rPr sz="1300" dirty="0">
                <a:solidFill>
                  <a:srgbClr val="6E7D74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6E7D74"/>
                </a:solidFill>
                <a:latin typeface="Calibri"/>
              </a:rPr>
              <a:t>frontu</a:t>
            </a:r>
            <a:endParaRPr sz="1300" dirty="0">
              <a:solidFill>
                <a:srgbClr val="6E7D74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5440680"/>
            <a:ext cx="11091672" cy="777240"/>
          </a:xfrm>
          <a:prstGeom prst="round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E4610F"/>
                </a:solidFill>
                <a:latin typeface="Calibri"/>
              </a:rPr>
              <a:t>Potvrda u simulaciji:  </a:t>
            </a:r>
            <a:r>
              <a:rPr sz="1350">
                <a:solidFill>
                  <a:srgbClr val="22302A"/>
                </a:solidFill>
                <a:latin typeface="Calibri"/>
              </a:rPr>
              <a:t>makija zahvaća znatno veću površinu od šume, a fronta se zaustavlja na cestama i vodama.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07008" y="55028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22302A"/>
                </a:solidFill>
                <a:latin typeface="+mj-lt"/>
              </a:rPr>
              <a:t>Rezultat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: tip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goriva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i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prepreke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2302A"/>
                </a:solidFill>
                <a:latin typeface="Calibri"/>
              </a:rPr>
              <a:t>Po teoriji, goriva se bitno razlikuju po brzini i intenzitetu gorenja:</a:t>
            </a:r>
          </a:p>
        </p:txBody>
      </p:sp>
      <p:pic>
        <p:nvPicPr>
          <p:cNvPr id="19" name="Slika 18">
            <a:extLst>
              <a:ext uri="{FF2B5EF4-FFF2-40B4-BE49-F238E27FC236}">
                <a16:creationId xmlns:a16="http://schemas.microsoft.com/office/drawing/2014/main" id="{68E2E8D8-F8BC-4045-9F23-92573A1DF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03" y="2189338"/>
            <a:ext cx="1468234" cy="1468234"/>
          </a:xfrm>
          <a:prstGeom prst="rect">
            <a:avLst/>
          </a:prstGeom>
        </p:spPr>
      </p:pic>
      <p:pic>
        <p:nvPicPr>
          <p:cNvPr id="21" name="Slika 20">
            <a:extLst>
              <a:ext uri="{FF2B5EF4-FFF2-40B4-BE49-F238E27FC236}">
                <a16:creationId xmlns:a16="http://schemas.microsoft.com/office/drawing/2014/main" id="{B00C6308-DC8C-4A41-9961-569595449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893" y="2189338"/>
            <a:ext cx="1488711" cy="1468177"/>
          </a:xfrm>
          <a:prstGeom prst="rect">
            <a:avLst/>
          </a:prstGeom>
        </p:spPr>
      </p:pic>
      <p:pic>
        <p:nvPicPr>
          <p:cNvPr id="23" name="Slika 22">
            <a:extLst>
              <a:ext uri="{FF2B5EF4-FFF2-40B4-BE49-F238E27FC236}">
                <a16:creationId xmlns:a16="http://schemas.microsoft.com/office/drawing/2014/main" id="{0F907C0D-DF27-4414-9FF5-DC4FE8258A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192" y="2197531"/>
            <a:ext cx="1468234" cy="1468234"/>
          </a:xfrm>
          <a:prstGeom prst="rect">
            <a:avLst/>
          </a:prstGeom>
        </p:spPr>
      </p:pic>
      <p:pic>
        <p:nvPicPr>
          <p:cNvPr id="25" name="Slika 24">
            <a:extLst>
              <a:ext uri="{FF2B5EF4-FFF2-40B4-BE49-F238E27FC236}">
                <a16:creationId xmlns:a16="http://schemas.microsoft.com/office/drawing/2014/main" id="{14473B74-A849-4E2C-BDDD-CF71DDED3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6493" y="3810351"/>
            <a:ext cx="1488711" cy="1521771"/>
          </a:xfrm>
          <a:prstGeom prst="rect">
            <a:avLst/>
          </a:prstGeom>
        </p:spPr>
      </p:pic>
      <p:pic>
        <p:nvPicPr>
          <p:cNvPr id="27" name="Slika 26">
            <a:extLst>
              <a:ext uri="{FF2B5EF4-FFF2-40B4-BE49-F238E27FC236}">
                <a16:creationId xmlns:a16="http://schemas.microsoft.com/office/drawing/2014/main" id="{8E7839AF-1E28-4A21-AAB2-DF8504ACFF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9623" y="3809999"/>
            <a:ext cx="1468178" cy="1521771"/>
          </a:xfrm>
          <a:prstGeom prst="rect">
            <a:avLst/>
          </a:prstGeom>
        </p:spPr>
      </p:pic>
      <p:pic>
        <p:nvPicPr>
          <p:cNvPr id="29" name="Slika 28">
            <a:extLst>
              <a:ext uri="{FF2B5EF4-FFF2-40B4-BE49-F238E27FC236}">
                <a16:creationId xmlns:a16="http://schemas.microsoft.com/office/drawing/2014/main" id="{120E5753-C06D-4C18-AF87-4495E999AB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1107" y="3220435"/>
            <a:ext cx="1957851" cy="1957851"/>
          </a:xfrm>
          <a:prstGeom prst="rect">
            <a:avLst/>
          </a:prstGeom>
        </p:spPr>
      </p:pic>
      <p:pic>
        <p:nvPicPr>
          <p:cNvPr id="31" name="Slika 30">
            <a:extLst>
              <a:ext uri="{FF2B5EF4-FFF2-40B4-BE49-F238E27FC236}">
                <a16:creationId xmlns:a16="http://schemas.microsoft.com/office/drawing/2014/main" id="{AA770B44-D14F-49EA-B46E-D783C4F8E2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4201" y="2072871"/>
            <a:ext cx="1937154" cy="1937154"/>
          </a:xfrm>
          <a:prstGeom prst="rect">
            <a:avLst/>
          </a:prstGeom>
        </p:spPr>
      </p:pic>
      <p:sp>
        <p:nvSpPr>
          <p:cNvPr id="32" name="Oval 1">
            <a:extLst>
              <a:ext uri="{FF2B5EF4-FFF2-40B4-BE49-F238E27FC236}">
                <a16:creationId xmlns:a16="http://schemas.microsoft.com/office/drawing/2014/main" id="{EC8917BD-C47A-4F88-B133-E6C305F71D07}"/>
              </a:ext>
            </a:extLst>
          </p:cNvPr>
          <p:cNvSpPr/>
          <p:nvPr/>
        </p:nvSpPr>
        <p:spPr>
          <a:xfrm>
            <a:off x="560832" y="523617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8</a:t>
            </a:r>
            <a:endParaRPr sz="2000" b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33" name="Rounded Rectangle 16">
            <a:extLst>
              <a:ext uri="{FF2B5EF4-FFF2-40B4-BE49-F238E27FC236}">
                <a16:creationId xmlns:a16="http://schemas.microsoft.com/office/drawing/2014/main" id="{794DB475-12DA-4254-A05E-CE4496AE89A8}"/>
              </a:ext>
            </a:extLst>
          </p:cNvPr>
          <p:cNvSpPr/>
          <p:nvPr/>
        </p:nvSpPr>
        <p:spPr>
          <a:xfrm>
            <a:off x="548640" y="5440680"/>
            <a:ext cx="11091672" cy="777240"/>
          </a:xfrm>
          <a:prstGeom prst="roundRect">
            <a:avLst/>
          </a:prstGeom>
          <a:solidFill>
            <a:srgbClr val="EE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E4610F"/>
                </a:solidFill>
                <a:latin typeface="Calibri"/>
              </a:rPr>
              <a:t>Potvrda u simulaciji:  </a:t>
            </a:r>
            <a:r>
              <a:rPr sz="1350">
                <a:solidFill>
                  <a:srgbClr val="22302A"/>
                </a:solidFill>
                <a:latin typeface="Calibri"/>
              </a:rPr>
              <a:t>makija zahvaća znatno veću površinu od šume, a fronta se zaustavlja na cestama i vodama.</a:t>
            </a:r>
          </a:p>
        </p:txBody>
      </p:sp>
    </p:spTree>
    <p:extLst>
      <p:ext uri="{BB962C8B-B14F-4D97-AF65-F5344CB8AC3E}">
        <p14:creationId xmlns:p14="http://schemas.microsoft.com/office/powerpoint/2010/main" val="31304881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30936" y="548640"/>
            <a:ext cx="475488" cy="475488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hr-HR" sz="2000" b="1" dirty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569337"/>
            <a:ext cx="10424160" cy="4340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hr-HR" sz="2800" b="1" dirty="0">
                <a:solidFill>
                  <a:srgbClr val="22302A"/>
                </a:solidFill>
                <a:latin typeface="+mj-lt"/>
              </a:rPr>
              <a:t>Zaključak, o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graničenja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i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</a:t>
            </a:r>
            <a:r>
              <a:rPr sz="2800" b="1" i="0" dirty="0" err="1">
                <a:solidFill>
                  <a:srgbClr val="22302A"/>
                </a:solidFill>
                <a:latin typeface="+mj-lt"/>
              </a:rPr>
              <a:t>buduće</a:t>
            </a:r>
            <a:r>
              <a:rPr sz="2800" b="1" i="0" dirty="0">
                <a:solidFill>
                  <a:srgbClr val="22302A"/>
                </a:solidFill>
                <a:latin typeface="+mj-lt"/>
              </a:rPr>
              <a:t> p</a:t>
            </a:r>
            <a:r>
              <a:rPr lang="hr-HR" sz="2800" b="1" i="0" dirty="0" err="1">
                <a:solidFill>
                  <a:srgbClr val="22302A"/>
                </a:solidFill>
                <a:latin typeface="+mj-lt"/>
              </a:rPr>
              <a:t>romjene</a:t>
            </a:r>
            <a:endParaRPr sz="2800" b="1" i="0" dirty="0">
              <a:solidFill>
                <a:srgbClr val="22302A"/>
              </a:solidFill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9496" y="2787598"/>
            <a:ext cx="5486400" cy="23736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3016197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4610F"/>
                </a:solidFill>
                <a:latin typeface="Cambria"/>
              </a:rPr>
              <a:t>Ograničenja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011" y="3454347"/>
            <a:ext cx="4937760" cy="1351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Fronta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se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kod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sporih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goriva</a:t>
            </a:r>
            <a:r>
              <a:rPr sz="1350" dirty="0">
                <a:solidFill>
                  <a:srgbClr val="22302A"/>
                </a:solidFill>
                <a:latin typeface="Calibri"/>
              </a:rPr>
              <a:t>/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slabog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vjetra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može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ugasiti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sama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(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ćelija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gori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jedan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korak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→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perkolacijski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prag</a:t>
            </a:r>
            <a:r>
              <a:rPr sz="1350" dirty="0">
                <a:solidFill>
                  <a:srgbClr val="22302A"/>
                </a:solidFill>
                <a:latin typeface="Calibri"/>
              </a:rPr>
              <a:t>).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Vrijeme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je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jedinstveno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za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cijelo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područje</a:t>
            </a:r>
            <a:r>
              <a:rPr sz="1350" dirty="0">
                <a:solidFill>
                  <a:srgbClr val="22302A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Klasifikacija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vegetacije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je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gruba</a:t>
            </a:r>
            <a:r>
              <a:rPr lang="hr-HR" sz="1350" dirty="0">
                <a:solidFill>
                  <a:srgbClr val="22302A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dirty="0">
                <a:solidFill>
                  <a:srgbClr val="E4610F"/>
                </a:solidFill>
                <a:latin typeface="Calibri"/>
              </a:rPr>
              <a:t>•   </a:t>
            </a:r>
            <a:r>
              <a:rPr sz="1350" dirty="0">
                <a:solidFill>
                  <a:srgbClr val="22302A"/>
                </a:solidFill>
                <a:latin typeface="Calibri"/>
              </a:rPr>
              <a:t>Model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nije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validiran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stvarnim</a:t>
            </a:r>
            <a:r>
              <a:rPr sz="1350" dirty="0">
                <a:solidFill>
                  <a:srgbClr val="22302A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22302A"/>
                </a:solidFill>
                <a:latin typeface="Calibri"/>
              </a:rPr>
              <a:t>požarima</a:t>
            </a:r>
            <a:r>
              <a:rPr sz="1350" dirty="0">
                <a:solidFill>
                  <a:srgbClr val="22302A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2787598"/>
            <a:ext cx="5468112" cy="2373630"/>
          </a:xfrm>
          <a:prstGeom prst="roundRect">
            <a:avLst/>
          </a:prstGeom>
          <a:solidFill>
            <a:srgbClr val="1C2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3096" y="3016197"/>
            <a:ext cx="4892040" cy="2706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F3902F"/>
                </a:solidFill>
                <a:latin typeface="Cambria"/>
              </a:rPr>
              <a:t>Buduće</a:t>
            </a:r>
            <a:r>
              <a:rPr lang="hr-HR" sz="1800" b="1" i="0" dirty="0">
                <a:solidFill>
                  <a:srgbClr val="F3902F"/>
                </a:solidFill>
                <a:latin typeface="Cambria"/>
              </a:rPr>
              <a:t> promjene</a:t>
            </a:r>
            <a:endParaRPr sz="1800" b="1" i="0" dirty="0">
              <a:solidFill>
                <a:srgbClr val="F3902F"/>
              </a:solidFill>
              <a:latin typeface="Cambri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83096" y="3473397"/>
            <a:ext cx="4937760" cy="14705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dirty="0">
                <a:solidFill>
                  <a:srgbClr val="F3902F"/>
                </a:solidFill>
                <a:latin typeface="Calibri"/>
              </a:rPr>
              <a:t>•  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Vrijeme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zadržavanja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plamena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(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rješava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samogašenje</a:t>
            </a:r>
            <a:r>
              <a:rPr sz="1350" dirty="0">
                <a:solidFill>
                  <a:srgbClr val="E4EAE2"/>
                </a:solidFill>
                <a:latin typeface="Calibri"/>
              </a:rPr>
              <a:t>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dirty="0">
                <a:solidFill>
                  <a:srgbClr val="F3902F"/>
                </a:solidFill>
                <a:latin typeface="Calibri"/>
              </a:rPr>
              <a:t>•  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Elipsoidno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širenje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umjesto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CA.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dirty="0">
                <a:solidFill>
                  <a:srgbClr val="F3902F"/>
                </a:solidFill>
                <a:latin typeface="Calibri"/>
              </a:rPr>
              <a:t>•  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Prostorno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raspodijeljeno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vrijeme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+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utjecaj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terena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na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vjetar</a:t>
            </a:r>
            <a:r>
              <a:rPr sz="1350" dirty="0">
                <a:solidFill>
                  <a:srgbClr val="E4EAE2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dirty="0">
                <a:solidFill>
                  <a:srgbClr val="F3902F"/>
                </a:solidFill>
                <a:latin typeface="Calibri"/>
              </a:rPr>
              <a:t>•  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Vlažnost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vegetacije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iz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satelita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(NDMI);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finija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goriva</a:t>
            </a:r>
            <a:r>
              <a:rPr sz="1350" dirty="0">
                <a:solidFill>
                  <a:srgbClr val="E4EAE2"/>
                </a:solidFill>
                <a:latin typeface="Calibri"/>
              </a:rPr>
              <a:t>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dirty="0">
                <a:solidFill>
                  <a:srgbClr val="F3902F"/>
                </a:solidFill>
                <a:latin typeface="Calibri"/>
              </a:rPr>
              <a:t>•  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Validacija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 dirty="0" err="1">
                <a:solidFill>
                  <a:srgbClr val="E4EAE2"/>
                </a:solidFill>
                <a:latin typeface="Calibri"/>
              </a:rPr>
              <a:t>stvarnim</a:t>
            </a:r>
            <a:r>
              <a:rPr sz="1350" dirty="0">
                <a:solidFill>
                  <a:srgbClr val="E4EAE2"/>
                </a:solidFill>
                <a:latin typeface="Calibri"/>
              </a:rPr>
              <a:t> </a:t>
            </a:r>
            <a:r>
              <a:rPr sz="1350">
                <a:solidFill>
                  <a:srgbClr val="E4EAE2"/>
                </a:solidFill>
                <a:latin typeface="Calibri"/>
              </a:rPr>
              <a:t>požarima.</a:t>
            </a:r>
            <a:endParaRPr sz="1350" dirty="0">
              <a:solidFill>
                <a:srgbClr val="E4EAE2"/>
              </a:solidFill>
              <a:latin typeface="Calibri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2F6058BF-F4E5-460F-8955-78A0B69C2A74}"/>
              </a:ext>
            </a:extLst>
          </p:cNvPr>
          <p:cNvSpPr txBox="1"/>
          <p:nvPr/>
        </p:nvSpPr>
        <p:spPr>
          <a:xfrm>
            <a:off x="630936" y="1588731"/>
            <a:ext cx="10515600" cy="613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latin typeface="+mj-lt"/>
              </a:rPr>
              <a:t>Znanstveno</a:t>
            </a:r>
            <a:r>
              <a:rPr b="1" i="0" dirty="0">
                <a:latin typeface="+mj-lt"/>
              </a:rPr>
              <a:t> </a:t>
            </a:r>
            <a:r>
              <a:rPr b="1" i="0" dirty="0" err="1">
                <a:latin typeface="+mj-lt"/>
              </a:rPr>
              <a:t>utemeljen</a:t>
            </a:r>
            <a:r>
              <a:rPr b="1" i="0" dirty="0">
                <a:latin typeface="+mj-lt"/>
              </a:rPr>
              <a:t> model </a:t>
            </a:r>
            <a:r>
              <a:rPr b="1" i="0" dirty="0" err="1">
                <a:latin typeface="+mj-lt"/>
              </a:rPr>
              <a:t>požara</a:t>
            </a:r>
            <a:r>
              <a:rPr b="1" i="0" dirty="0">
                <a:latin typeface="+mj-lt"/>
              </a:rPr>
              <a:t>, </a:t>
            </a:r>
            <a:r>
              <a:rPr b="1" i="0" dirty="0" err="1">
                <a:latin typeface="+mj-lt"/>
              </a:rPr>
              <a:t>primijenjen</a:t>
            </a:r>
            <a:r>
              <a:rPr b="1" i="0" dirty="0">
                <a:latin typeface="+mj-lt"/>
              </a:rPr>
              <a:t> </a:t>
            </a:r>
            <a:r>
              <a:rPr b="1" i="0" dirty="0" err="1">
                <a:latin typeface="+mj-lt"/>
              </a:rPr>
              <a:t>na</a:t>
            </a:r>
            <a:r>
              <a:rPr b="1" i="0" dirty="0">
                <a:latin typeface="+mj-lt"/>
              </a:rPr>
              <a:t> </a:t>
            </a:r>
            <a:r>
              <a:rPr b="1" i="0" dirty="0" err="1">
                <a:latin typeface="+mj-lt"/>
              </a:rPr>
              <a:t>stvarne</a:t>
            </a:r>
            <a:r>
              <a:rPr b="1" i="0" dirty="0">
                <a:latin typeface="+mj-lt"/>
              </a:rPr>
              <a:t> </a:t>
            </a:r>
            <a:r>
              <a:rPr b="1" i="0" dirty="0" err="1">
                <a:latin typeface="+mj-lt"/>
              </a:rPr>
              <a:t>podatke</a:t>
            </a:r>
            <a:r>
              <a:rPr lang="hr-HR" b="1" i="0" dirty="0">
                <a:latin typeface="+mj-lt"/>
              </a:rPr>
              <a:t>, 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latin typeface="+mj-lt"/>
              </a:rPr>
              <a:t>koristeći</a:t>
            </a:r>
            <a:r>
              <a:rPr b="1" i="0" dirty="0">
                <a:latin typeface="+mj-lt"/>
              </a:rPr>
              <a:t> </a:t>
            </a:r>
            <a:r>
              <a:rPr b="1" i="0" dirty="0" err="1">
                <a:latin typeface="+mj-lt"/>
              </a:rPr>
              <a:t>isključivo</a:t>
            </a:r>
            <a:r>
              <a:rPr b="1" i="0" dirty="0">
                <a:latin typeface="+mj-lt"/>
              </a:rPr>
              <a:t> </a:t>
            </a:r>
            <a:r>
              <a:rPr b="1" i="0" dirty="0" err="1">
                <a:latin typeface="+mj-lt"/>
              </a:rPr>
              <a:t>otvorene</a:t>
            </a:r>
            <a:r>
              <a:rPr b="1" i="0" dirty="0">
                <a:latin typeface="+mj-lt"/>
              </a:rPr>
              <a:t> </a:t>
            </a:r>
            <a:r>
              <a:rPr b="1" i="0" dirty="0" err="1">
                <a:latin typeface="+mj-lt"/>
              </a:rPr>
              <a:t>tehnologije</a:t>
            </a:r>
            <a:r>
              <a:rPr b="1" i="0" dirty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4480560"/>
            <a:ext cx="4023360" cy="4023360"/>
          </a:xfrm>
          <a:prstGeom prst="ellipse">
            <a:avLst/>
          </a:prstGeom>
          <a:solidFill>
            <a:srgbClr val="E46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52560" y="5394960"/>
            <a:ext cx="2011680" cy="2011680"/>
          </a:xfrm>
          <a:prstGeom prst="ellipse">
            <a:avLst/>
          </a:prstGeom>
          <a:solidFill>
            <a:srgbClr val="F39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88084"/>
            <a:ext cx="9601200" cy="1224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 i="0" dirty="0" err="1">
                <a:solidFill>
                  <a:srgbClr val="FFFFFF"/>
                </a:solidFill>
                <a:latin typeface="+mj-lt"/>
              </a:rPr>
              <a:t>Hvala</a:t>
            </a:r>
            <a:r>
              <a:rPr sz="4800" b="1" i="0" dirty="0">
                <a:solidFill>
                  <a:srgbClr val="FFFFFF"/>
                </a:solidFill>
                <a:latin typeface="+mj-lt"/>
              </a:rPr>
              <a:t> </a:t>
            </a:r>
            <a:r>
              <a:rPr sz="4800" b="1" i="0" dirty="0" err="1">
                <a:solidFill>
                  <a:srgbClr val="FFFFFF"/>
                </a:solidFill>
                <a:latin typeface="+mj-lt"/>
              </a:rPr>
              <a:t>na</a:t>
            </a:r>
            <a:r>
              <a:rPr sz="4800" b="1" i="0" dirty="0">
                <a:solidFill>
                  <a:srgbClr val="FFFFFF"/>
                </a:solidFill>
                <a:latin typeface="+mj-lt"/>
              </a:rPr>
              <a:t> </a:t>
            </a:r>
            <a:r>
              <a:rPr sz="4800" b="1" i="0" dirty="0" err="1">
                <a:solidFill>
                  <a:srgbClr val="FFFFFF"/>
                </a:solidFill>
                <a:latin typeface="+mj-lt"/>
              </a:rPr>
              <a:t>pažnji</a:t>
            </a:r>
            <a:r>
              <a:rPr sz="4800" b="1" i="0" dirty="0">
                <a:solidFill>
                  <a:srgbClr val="FFFFFF"/>
                </a:solidFill>
                <a:latin typeface="+mj-lt"/>
              </a:rPr>
              <a:t>!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2400" b="0" i="0" dirty="0">
              <a:solidFill>
                <a:srgbClr val="8AAE6B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8229600" cy="895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 dirty="0" err="1">
                <a:solidFill>
                  <a:srgbClr val="C7D2C7"/>
                </a:solidFill>
                <a:latin typeface="Calibri"/>
              </a:rPr>
              <a:t>Domagoj</a:t>
            </a:r>
            <a:r>
              <a:rPr sz="1400" b="0" i="0" dirty="0">
                <a:solidFill>
                  <a:srgbClr val="C7D2C7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C7D2C7"/>
                </a:solidFill>
                <a:latin typeface="Calibri"/>
              </a:rPr>
              <a:t>Tomić</a:t>
            </a:r>
            <a:r>
              <a:rPr sz="1400" b="0" i="0" dirty="0">
                <a:solidFill>
                  <a:srgbClr val="C7D2C7"/>
                </a:solidFill>
                <a:latin typeface="Calibri"/>
              </a:rPr>
              <a:t>  </a:t>
            </a:r>
            <a:endParaRPr lang="hr-HR" sz="1400" b="0" i="0" dirty="0">
              <a:solidFill>
                <a:srgbClr val="C7D2C7"/>
              </a:solidFill>
              <a:latin typeface="Calibri"/>
            </a:endParaRPr>
          </a:p>
          <a:p>
            <a:pPr>
              <a:lnSpc>
                <a:spcPct val="105000"/>
              </a:lnSpc>
            </a:pPr>
            <a:endParaRPr lang="hr-HR" sz="1400" b="0" i="0" dirty="0">
              <a:solidFill>
                <a:srgbClr val="C7D2C7"/>
              </a:solidFill>
              <a:latin typeface="Calibri"/>
            </a:endParaRPr>
          </a:p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hr-HR" sz="1400" b="0" i="1" dirty="0">
                <a:solidFill>
                  <a:srgbClr val="8AAE6B"/>
                </a:solidFill>
                <a:latin typeface="Calibri"/>
              </a:rPr>
              <a:t>Primjena otvorenih prostornih podataka i daljinskih istraživanja u modeliranju propagatora požara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400" b="0" i="0" dirty="0">
              <a:solidFill>
                <a:srgbClr val="C7D2C7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1141</Words>
  <Application>Microsoft Office PowerPoint</Application>
  <PresentationFormat>Široki zaslon</PresentationFormat>
  <Paragraphs>173</Paragraphs>
  <Slides>18</Slides>
  <Notes>18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prezentacija</dc:title>
  <dc:subject/>
  <dc:creator>Domagoj Tomić</dc:creator>
  <cp:keywords/>
  <dc:description>generated using python-pptx</dc:description>
  <cp:lastModifiedBy>Domagoj</cp:lastModifiedBy>
  <cp:revision>19</cp:revision>
  <dcterms:created xsi:type="dcterms:W3CDTF">2013-01-27T09:14:16Z</dcterms:created>
  <dcterms:modified xsi:type="dcterms:W3CDTF">2026-07-15T17:42:22Z</dcterms:modified>
  <cp:category/>
</cp:coreProperties>
</file>